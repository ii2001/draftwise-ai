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20초 · 전체 목표 4분 45초 (실제 낭독 실측 아님)</a:t>
            </a:r>
          </a:p>
          <a:p/>
          <a:p>
            <a:r>
              <a:t>안녕하세요. 김예찬입니다. DraftWise AI는 밴픽에서 우리 팀에 필요한 역할을 찾아 후보와 근거를 제시하는 교육용 서비스입니다. 실제 승률 예측보다는 설명 가능한 조합 보완에 초점을 맞췄습니다.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35초 · 전체 목표 4분 45초 (실제 낭독 실측 아님)</a:t>
            </a:r>
          </a:p>
          <a:p/>
          <a:p>
            <a:r>
              <a:t>티어표만으로는 피해 유형 편중, 앞라인과 CC 부족, 개인 주력을 함께 판단하기 어렵습니다. 팀 픽과 밴, 사용자가 등록한 주력 목록을 받아 조합을 계산하고 상위 후보와 근거를 보여주도록 만들었습니다.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45초 · 전체 목표 4분 45초 (실제 낭독 실측 아님)</a:t>
            </a:r>
          </a:p>
          <a:p/>
          <a:p>
            <a:r>
              <a:t>이 화면은 도식이 아니라 실제 Chrome 실행 캡처입니다. 왼쪽은 내 포지션과 양쪽 픽·밴 슬롯, 중앙 챔피언 선택창입니다. 다섯 포지션과 173명을 지원합니다. 오른쪽은 미드 주력으로 아리를 등록한 화면입니다. 주력 목록은 포지션별로 저장하고 새로고침 후에도 유지합니다. 픽과 밴 중복은 UI와 서버에서 함께 검사합니다.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45초 · 전체 목표 4분 45초 (실제 낭독 실측 아님)</a:t>
            </a:r>
          </a:p>
          <a:p/>
          <a:p>
            <a:r>
              <a:t>Vue는 입력 상태를 연결하고 FastAPI와 Pydantic은 요청을 검증합니다. LangGraph는 조회, 점수 계산, 설명 단계로 구성했습니다. 조회 단계에서 실제 MCP stdio 도구로 챔피언 특성을 받습니다. Python이 점수와 순위를 정하고 OpenAI는 제공된 근거 번호만 선택합니다. 서버가 이를 검증하고 문장을 조립해 임의 설명이 노출되지 않게 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50초 · 전체 목표 4분 45초 (실제 낭독 실측 아님)</a:t>
            </a:r>
          </a:p>
          <a:p/>
          <a:p>
            <a:r>
              <a:t>실제 실행 사례입니다. 야스오와 징크스로 물리 피해가 편중된 조합에 정글을 추천했습니다. 캡처에서 자크 86.8점, 에코 83.3점, 자이라 78.5점을 직접 확인할 수 있습니다. 아래는 자크를 선택한 전후 비교입니다. 마법 피해, 앞라인과 강한 CC 특성 보유 수가 0에서 1로 늘었습니다. 이는 조합 특성 수와 규칙 점수이며 실제 승률이 아닙니다. 비교에는 추가 AI 호출이 없습니다.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30초 · 전체 목표 4분 45초 (실제 낭독 실측 아님)</a:t>
            </a:r>
          </a:p>
          <a:p/>
          <a:p>
            <a:r>
              <a:t>Python 43개, Node 8개 검사와 Chrome 12개 시나리오를 확인했습니다. 실제 OpenAI, LangGraph, MCP 실행 모드와 로그도 남겼습니다. API 네 요청의 HTTP 평균은 약 1.44초였습니다. 아래는 실제 저장 이력 화면으로, 추가 모델 호출 없이 저장한 결과와 입력 설정을 복원합니다.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45초 · 전체 목표 4분 45초 (실제 낭독 실측 아님)</a:t>
            </a:r>
          </a:p>
          <a:p/>
          <a:p>
            <a:r>
              <a:t>동일한 네 입력에서 단순 가나다순 Baseline은 세 건, 개선 방식은 네 건의 조합 보완 조건을 통과했습니다. 네 사례의 결과를 일반 정확도나 실제 승률로 해석할 수는 없습니다. 실제 출력에서 밴하지 않은 자크를 밴됐다고 설명하는 오류를 발견했고, 근거 선택과 서버 검증으로 출력 경계를 바꿨습니다. 수정 후 실제 출력 다섯 건과 과거 오류 재주입을 확인했습니다. 대신 자유로운 전략 답변은 줄었습니다.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15초 · 전체 목표 4분 45초 (실제 낭독 실측 아님)</a:t>
            </a:r>
          </a:p>
          <a:p/>
          <a:p>
            <a:r>
              <a:t>소스, 보고서, 실행 로그와 캡처를 제출 자료로 정리했습니다. 남은 교육생 번호와 제출 조건을 확인하겠습니다. 모델 호출 성공과 설명 검증을 구분하고 실제 실행으로 확인하는 중요성을 배웠습니다.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ii2001/DraftWise-AI/blob/main/docs/evidence/2026-10-22-grounding-fix/screenshots/01-draft-desktop.png" TargetMode="External"/><Relationship Id="rId2" Type="http://schemas.openxmlformats.org/officeDocument/2006/relationships/hyperlink" Target="https://github.com/ii2001/DraftWise-AI/blob/main/docs/evidence/2026-10-22-grounding-fix/screenshots/04-real-ai-analysis.png" TargetMode="External"/><Relationship Id="rId3" Type="http://schemas.openxmlformats.org/officeDocument/2006/relationships/hyperlink" Target="https://github.com/ii2001/DraftWise-AI/blob/main/docs/evidence/2026-10-22-grounding-fix/screenshots/07-mobile.png"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 Id="rId6" Type="http://schemas.openxmlformats.org/officeDocument/2006/relationships/image" Target="../media/image1.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ii2001/DraftWise-AI/blob/main/docs/evidence/2026-10-22-grounding-fix/screenshots/04-real-ai-analysis.png"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ii2001/DraftWise-AI/tree/main/docs/evidence/2026-10-22-grounding-fix"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ii2001/DraftWise-AI" TargetMode="External"/><Relationship Id="rId2" Type="http://schemas.openxmlformats.org/officeDocument/2006/relationships/hyperlink" Target="https://github.com/ii2001/DraftWise-AI/blob/main/REPORT.md" TargetMode="External"/><Relationship Id="rId3" Type="http://schemas.openxmlformats.org/officeDocument/2006/relationships/hyperlink" Target="https://github.com/ii2001/DraftWise-AI/tree/main/docs/evidence/2026-10-22-grounding-fix" TargetMode="External"/><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gd name="adj" fmla="val 189474"/>
            </a:avLst>
          </a:prstGeom>
          <a:solidFill>
            <a:srgbClr val="D9BA78"/>
          </a:solidFill>
          <a:ln w="12700">
            <a:solidFill>
              <a:srgbClr val="D9BA78">
                <a:alpha val="0"/>
              </a:srgbClr>
            </a:solidFill>
            <a:prstDash val="solid"/>
          </a:ln>
        </p:spPr>
      </p:sp>
      <p:sp>
        <p:nvSpPr>
          <p:cNvPr id="3" name="Shape 1"/>
          <p:cNvSpPr/>
          <p:nvPr/>
        </p:nvSpPr>
        <p:spPr>
          <a:xfrm>
            <a:off x="10378440" y="164592"/>
            <a:ext cx="1444752" cy="1444752"/>
          </a:xfrm>
          <a:prstGeom prst="ellipse">
            <a:avLst/>
          </a:prstGeom>
          <a:solidFill>
            <a:srgbClr val="0D1F2D"/>
          </a:solidFill>
          <a:ln w="12700">
            <a:solidFill>
              <a:srgbClr val="0D1F2D">
                <a:alpha val="0"/>
              </a:srgbClr>
            </a:solidFill>
            <a:prstDash val="solid"/>
          </a:ln>
        </p:spPr>
      </p:sp>
      <p:sp>
        <p:nvSpPr>
          <p:cNvPr id="4" name="Text 2"/>
          <p:cNvSpPr/>
          <p:nvPr/>
        </p:nvSpPr>
        <p:spPr>
          <a:xfrm>
            <a:off x="694944" y="521208"/>
            <a:ext cx="9144000" cy="320040"/>
          </a:xfrm>
          <a:prstGeom prst="rect">
            <a:avLst/>
          </a:prstGeom>
          <a:noFill/>
          <a:ln/>
        </p:spPr>
        <p:txBody>
          <a:bodyPr wrap="square" lIns="0" tIns="0" rIns="0" bIns="0" rtlCol="0" anchor="ctr">
            <a:normAutofit/>
          </a:bodyPr>
          <a:lstStyle/>
          <a:p>
            <a:pPr algn="l" indent="0" marL="0">
              <a:buNone/>
            </a:pPr>
            <a:r>
              <a:rPr lang="en-US" sz="1300" b="1" spc="180" kern="0" dirty="0">
                <a:solidFill>
                  <a:srgbClr val="D9BA78"/>
                </a:solidFill>
                <a:latin typeface="Noto Sans CJK KR" pitchFamily="34" charset="0"/>
                <a:ea typeface="Noto Sans CJK KR" pitchFamily="34" charset="-122"/>
                <a:cs typeface="Noto Sans CJK KR" pitchFamily="34" charset="-120"/>
              </a:rPr>
              <a:t>SKALA  ·  AI 서비스 개발 MINI-PROJECT</a:t>
            </a:r>
            <a:endParaRPr lang="en-US" sz="1300" dirty="0"/>
          </a:p>
        </p:txBody>
      </p:sp>
      <p:sp>
        <p:nvSpPr>
          <p:cNvPr id="5" name="Text 3"/>
          <p:cNvSpPr/>
          <p:nvPr/>
        </p:nvSpPr>
        <p:spPr>
          <a:xfrm>
            <a:off x="704088" y="1234440"/>
            <a:ext cx="4754880" cy="914400"/>
          </a:xfrm>
          <a:prstGeom prst="rect">
            <a:avLst/>
          </a:prstGeom>
          <a:noFill/>
          <a:ln/>
        </p:spPr>
        <p:txBody>
          <a:bodyPr wrap="square" lIns="0" tIns="0" rIns="0" bIns="0" rtlCol="0" anchor="ctr">
            <a:normAutofit/>
          </a:bodyPr>
          <a:lstStyle/>
          <a:p>
            <a:pPr algn="l" indent="0" marL="0">
              <a:buNone/>
            </a:pPr>
            <a:r>
              <a:rPr lang="en-US" sz="6100" b="1" spc="80" kern="0" dirty="0">
                <a:solidFill>
                  <a:srgbClr val="FFFFFF"/>
                </a:solidFill>
                <a:latin typeface="Noto Sans CJK KR" pitchFamily="34" charset="0"/>
                <a:ea typeface="Noto Sans CJK KR" pitchFamily="34" charset="-122"/>
                <a:cs typeface="Noto Sans CJK KR" pitchFamily="34" charset="-120"/>
              </a:rPr>
              <a:t>DRAFT</a:t>
            </a:r>
            <a:endParaRPr lang="en-US" sz="6100" dirty="0"/>
          </a:p>
        </p:txBody>
      </p:sp>
      <p:sp>
        <p:nvSpPr>
          <p:cNvPr id="6" name="Text 4"/>
          <p:cNvSpPr/>
          <p:nvPr/>
        </p:nvSpPr>
        <p:spPr>
          <a:xfrm>
            <a:off x="4882896" y="1234440"/>
            <a:ext cx="3657600" cy="914400"/>
          </a:xfrm>
          <a:prstGeom prst="rect">
            <a:avLst/>
          </a:prstGeom>
          <a:noFill/>
          <a:ln/>
        </p:spPr>
        <p:txBody>
          <a:bodyPr wrap="square" lIns="0" tIns="0" rIns="0" bIns="0" rtlCol="0" anchor="ctr">
            <a:normAutofit/>
          </a:bodyPr>
          <a:lstStyle/>
          <a:p>
            <a:pPr algn="l" indent="0" marL="0">
              <a:buNone/>
            </a:pPr>
            <a:r>
              <a:rPr lang="en-US" sz="6100" b="1" spc="80" kern="0" dirty="0">
                <a:solidFill>
                  <a:srgbClr val="D9BA78"/>
                </a:solidFill>
                <a:latin typeface="Noto Sans CJK KR" pitchFamily="34" charset="0"/>
                <a:ea typeface="Noto Sans CJK KR" pitchFamily="34" charset="-122"/>
                <a:cs typeface="Noto Sans CJK KR" pitchFamily="34" charset="-120"/>
              </a:rPr>
              <a:t>WISE</a:t>
            </a:r>
            <a:endParaRPr lang="en-US" sz="6100" dirty="0"/>
          </a:p>
        </p:txBody>
      </p:sp>
      <p:sp>
        <p:nvSpPr>
          <p:cNvPr id="7" name="Text 5"/>
          <p:cNvSpPr/>
          <p:nvPr/>
        </p:nvSpPr>
        <p:spPr>
          <a:xfrm>
            <a:off x="8887968" y="1316736"/>
            <a:ext cx="1005840" cy="713232"/>
          </a:xfrm>
          <a:prstGeom prst="rect">
            <a:avLst/>
          </a:prstGeom>
          <a:noFill/>
          <a:ln/>
        </p:spPr>
        <p:txBody>
          <a:bodyPr wrap="square" lIns="0" tIns="0" rIns="0" bIns="0" rtlCol="0" anchor="ctr">
            <a:normAutofit/>
          </a:bodyPr>
          <a:lstStyle/>
          <a:p>
            <a:pPr algn="l" indent="0" marL="0">
              <a:buNone/>
            </a:pPr>
            <a:r>
              <a:rPr lang="en-US" sz="4100" b="1" dirty="0">
                <a:solidFill>
                  <a:srgbClr val="5FAEE9"/>
                </a:solidFill>
                <a:latin typeface="Noto Sans CJK KR" pitchFamily="34" charset="0"/>
                <a:ea typeface="Noto Sans CJK KR" pitchFamily="34" charset="-122"/>
                <a:cs typeface="Noto Sans CJK KR" pitchFamily="34" charset="-120"/>
              </a:rPr>
              <a:t>AI</a:t>
            </a:r>
            <a:endParaRPr lang="en-US" sz="4100" dirty="0"/>
          </a:p>
        </p:txBody>
      </p:sp>
      <p:sp>
        <p:nvSpPr>
          <p:cNvPr id="8" name="Text 6"/>
          <p:cNvSpPr/>
          <p:nvPr/>
        </p:nvSpPr>
        <p:spPr>
          <a:xfrm>
            <a:off x="731520" y="2487168"/>
            <a:ext cx="10058400" cy="530352"/>
          </a:xfrm>
          <a:prstGeom prst="rect">
            <a:avLst/>
          </a:prstGeom>
          <a:noFill/>
          <a:ln/>
        </p:spPr>
        <p:txBody>
          <a:bodyPr wrap="square" lIns="0" tIns="0" rIns="0" bIns="0" rtlCol="0" anchor="ctr">
            <a:normAutofit/>
          </a:bodyPr>
          <a:lstStyle/>
          <a:p>
            <a:pPr algn="l" indent="0" marL="0">
              <a:buNone/>
            </a:pPr>
            <a:r>
              <a:rPr lang="en-US" sz="2600" b="1" dirty="0">
                <a:solidFill>
                  <a:srgbClr val="F5F7FA"/>
                </a:solidFill>
                <a:latin typeface="Noto Sans CJK KR" pitchFamily="34" charset="0"/>
                <a:ea typeface="Noto Sans CJK KR" pitchFamily="34" charset="-122"/>
                <a:cs typeface="Noto Sans CJK KR" pitchFamily="34" charset="-120"/>
              </a:rPr>
              <a:t>리그 오브 레전드 밴픽 전략 추천 AI Agent</a:t>
            </a:r>
            <a:endParaRPr lang="en-US" sz="2600" dirty="0"/>
          </a:p>
        </p:txBody>
      </p:sp>
      <p:sp>
        <p:nvSpPr>
          <p:cNvPr id="9" name="Text 7"/>
          <p:cNvSpPr/>
          <p:nvPr/>
        </p:nvSpPr>
        <p:spPr>
          <a:xfrm>
            <a:off x="740664" y="3127248"/>
            <a:ext cx="9601200" cy="548640"/>
          </a:xfrm>
          <a:prstGeom prst="rect">
            <a:avLst/>
          </a:prstGeom>
          <a:noFill/>
          <a:ln/>
        </p:spPr>
        <p:txBody>
          <a:bodyPr wrap="square" lIns="0" tIns="0" rIns="0" bIns="0" rtlCol="0" anchor="ctr">
            <a:normAutofit/>
          </a:bodyPr>
          <a:lstStyle/>
          <a:p>
            <a:pPr algn="l" indent="0" marL="0">
              <a:buNone/>
            </a:pPr>
            <a:r>
              <a:rPr lang="en-US" sz="2300" dirty="0">
                <a:solidFill>
                  <a:srgbClr val="AFC3D1"/>
                </a:solidFill>
                <a:latin typeface="Noto Sans CJK KR" pitchFamily="34" charset="0"/>
                <a:ea typeface="Noto Sans CJK KR" pitchFamily="34" charset="-122"/>
                <a:cs typeface="Noto Sans CJK KR" pitchFamily="34" charset="-120"/>
              </a:rPr>
              <a:t>지금 우리 팀에 필요한 픽은 무엇인가?</a:t>
            </a:r>
            <a:endParaRPr lang="en-US" sz="2300" dirty="0"/>
          </a:p>
        </p:txBody>
      </p:sp>
      <p:sp>
        <p:nvSpPr>
          <p:cNvPr id="10" name="Shape 8"/>
          <p:cNvSpPr/>
          <p:nvPr/>
        </p:nvSpPr>
        <p:spPr>
          <a:xfrm>
            <a:off x="731520" y="4206240"/>
            <a:ext cx="10652760" cy="1143000"/>
          </a:xfrm>
          <a:prstGeom prst="roundRect">
            <a:avLst>
              <a:gd name="adj" fmla="val 14400"/>
            </a:avLst>
          </a:prstGeom>
          <a:solidFill>
            <a:srgbClr val="122637"/>
          </a:solidFill>
          <a:ln w="12700">
            <a:solidFill>
              <a:srgbClr val="122637">
                <a:alpha val="0"/>
              </a:srgbClr>
            </a:solidFill>
            <a:prstDash val="solid"/>
          </a:ln>
        </p:spPr>
      </p:sp>
      <p:sp>
        <p:nvSpPr>
          <p:cNvPr id="11" name="Shape 9"/>
          <p:cNvSpPr/>
          <p:nvPr/>
        </p:nvSpPr>
        <p:spPr>
          <a:xfrm>
            <a:off x="1051560" y="4562856"/>
            <a:ext cx="1216152" cy="365760"/>
          </a:xfrm>
          <a:prstGeom prst="roundRect">
            <a:avLst>
              <a:gd name="adj" fmla="val 45000"/>
            </a:avLst>
          </a:prstGeom>
          <a:solidFill>
            <a:srgbClr val="193246"/>
          </a:solidFill>
          <a:ln w="12700">
            <a:solidFill>
              <a:srgbClr val="193246">
                <a:alpha val="0"/>
              </a:srgbClr>
            </a:solidFill>
            <a:prstDash val="solid"/>
          </a:ln>
        </p:spPr>
      </p:sp>
      <p:sp>
        <p:nvSpPr>
          <p:cNvPr id="12" name="Text 10"/>
          <p:cNvSpPr/>
          <p:nvPr/>
        </p:nvSpPr>
        <p:spPr>
          <a:xfrm>
            <a:off x="1143000" y="4572000"/>
            <a:ext cx="1033272" cy="329184"/>
          </a:xfrm>
          <a:prstGeom prst="rect">
            <a:avLst/>
          </a:prstGeom>
          <a:noFill/>
          <a:ln/>
        </p:spPr>
        <p:txBody>
          <a:bodyPr wrap="square" lIns="0" tIns="0" rIns="0" bIns="0" rtlCol="0" anchor="ctr">
            <a:normAutofit/>
          </a:bodyPr>
          <a:lstStyle/>
          <a:p>
            <a:pPr algn="ctr" indent="0" marL="0">
              <a:buNone/>
            </a:pPr>
            <a:r>
              <a:rPr lang="en-US" sz="1100" b="1" dirty="0">
                <a:solidFill>
                  <a:srgbClr val="5FAEE9"/>
                </a:solidFill>
                <a:latin typeface="Noto Sans CJK KR" pitchFamily="34" charset="0"/>
                <a:ea typeface="Noto Sans CJK KR" pitchFamily="34" charset="-122"/>
                <a:cs typeface="Noto Sans CJK KR" pitchFamily="34" charset="-120"/>
              </a:rPr>
              <a:t>Vue 3</a:t>
            </a:r>
            <a:endParaRPr lang="en-US" sz="1100" dirty="0"/>
          </a:p>
        </p:txBody>
      </p:sp>
      <p:sp>
        <p:nvSpPr>
          <p:cNvPr id="13" name="Shape 11"/>
          <p:cNvSpPr/>
          <p:nvPr/>
        </p:nvSpPr>
        <p:spPr>
          <a:xfrm>
            <a:off x="2441448" y="4562856"/>
            <a:ext cx="1408176" cy="365760"/>
          </a:xfrm>
          <a:prstGeom prst="roundRect">
            <a:avLst>
              <a:gd name="adj" fmla="val 45000"/>
            </a:avLst>
          </a:prstGeom>
          <a:solidFill>
            <a:srgbClr val="193246"/>
          </a:solidFill>
          <a:ln w="12700">
            <a:solidFill>
              <a:srgbClr val="193246">
                <a:alpha val="0"/>
              </a:srgbClr>
            </a:solidFill>
            <a:prstDash val="solid"/>
          </a:ln>
        </p:spPr>
      </p:sp>
      <p:sp>
        <p:nvSpPr>
          <p:cNvPr id="14" name="Text 12"/>
          <p:cNvSpPr/>
          <p:nvPr/>
        </p:nvSpPr>
        <p:spPr>
          <a:xfrm>
            <a:off x="2532888" y="4572000"/>
            <a:ext cx="1225296" cy="329184"/>
          </a:xfrm>
          <a:prstGeom prst="rect">
            <a:avLst/>
          </a:prstGeom>
          <a:noFill/>
          <a:ln/>
        </p:spPr>
        <p:txBody>
          <a:bodyPr wrap="square" lIns="0" tIns="0" rIns="0" bIns="0" rtlCol="0" anchor="ctr">
            <a:normAutofit/>
          </a:bodyPr>
          <a:lstStyle/>
          <a:p>
            <a:pPr algn="ctr" indent="0" marL="0">
              <a:buNone/>
            </a:pPr>
            <a:r>
              <a:rPr lang="en-US" sz="1100" b="1" dirty="0">
                <a:solidFill>
                  <a:srgbClr val="D9BA78"/>
                </a:solidFill>
                <a:latin typeface="Noto Sans CJK KR" pitchFamily="34" charset="0"/>
                <a:ea typeface="Noto Sans CJK KR" pitchFamily="34" charset="-122"/>
                <a:cs typeface="Noto Sans CJK KR" pitchFamily="34" charset="-120"/>
              </a:rPr>
              <a:t>FastAPI</a:t>
            </a:r>
            <a:endParaRPr lang="en-US" sz="1100" dirty="0"/>
          </a:p>
        </p:txBody>
      </p:sp>
      <p:sp>
        <p:nvSpPr>
          <p:cNvPr id="15" name="Shape 13"/>
          <p:cNvSpPr/>
          <p:nvPr/>
        </p:nvSpPr>
        <p:spPr>
          <a:xfrm>
            <a:off x="4014216" y="4562856"/>
            <a:ext cx="1874520" cy="365760"/>
          </a:xfrm>
          <a:prstGeom prst="roundRect">
            <a:avLst>
              <a:gd name="adj" fmla="val 45000"/>
            </a:avLst>
          </a:prstGeom>
          <a:solidFill>
            <a:srgbClr val="193246"/>
          </a:solidFill>
          <a:ln w="12700">
            <a:solidFill>
              <a:srgbClr val="193246">
                <a:alpha val="0"/>
              </a:srgbClr>
            </a:solidFill>
            <a:prstDash val="solid"/>
          </a:ln>
        </p:spPr>
      </p:sp>
      <p:sp>
        <p:nvSpPr>
          <p:cNvPr id="16" name="Text 14"/>
          <p:cNvSpPr/>
          <p:nvPr/>
        </p:nvSpPr>
        <p:spPr>
          <a:xfrm>
            <a:off x="4105656" y="4572000"/>
            <a:ext cx="1691640" cy="329184"/>
          </a:xfrm>
          <a:prstGeom prst="rect">
            <a:avLst/>
          </a:prstGeom>
          <a:noFill/>
          <a:ln/>
        </p:spPr>
        <p:txBody>
          <a:bodyPr wrap="square" lIns="0" tIns="0" rIns="0" bIns="0" rtlCol="0" anchor="ctr">
            <a:normAutofit/>
          </a:bodyPr>
          <a:lstStyle/>
          <a:p>
            <a:pPr algn="ctr" indent="0" marL="0">
              <a:buNone/>
            </a:pPr>
            <a:r>
              <a:rPr lang="en-US" sz="1100" b="1" dirty="0">
                <a:solidFill>
                  <a:srgbClr val="77D9AD"/>
                </a:solidFill>
                <a:latin typeface="Noto Sans CJK KR" pitchFamily="34" charset="0"/>
                <a:ea typeface="Noto Sans CJK KR" pitchFamily="34" charset="-122"/>
                <a:cs typeface="Noto Sans CJK KR" pitchFamily="34" charset="-120"/>
              </a:rPr>
              <a:t>LangGraph</a:t>
            </a:r>
            <a:endParaRPr lang="en-US" sz="1100" dirty="0"/>
          </a:p>
        </p:txBody>
      </p:sp>
      <p:sp>
        <p:nvSpPr>
          <p:cNvPr id="17" name="Shape 15"/>
          <p:cNvSpPr/>
          <p:nvPr/>
        </p:nvSpPr>
        <p:spPr>
          <a:xfrm>
            <a:off x="6035040" y="4562856"/>
            <a:ext cx="1161288" cy="365760"/>
          </a:xfrm>
          <a:prstGeom prst="roundRect">
            <a:avLst>
              <a:gd name="adj" fmla="val 45000"/>
            </a:avLst>
          </a:prstGeom>
          <a:solidFill>
            <a:srgbClr val="193246"/>
          </a:solidFill>
          <a:ln w="12700">
            <a:solidFill>
              <a:srgbClr val="193246">
                <a:alpha val="0"/>
              </a:srgbClr>
            </a:solidFill>
            <a:prstDash val="solid"/>
          </a:ln>
        </p:spPr>
      </p:sp>
      <p:sp>
        <p:nvSpPr>
          <p:cNvPr id="18" name="Text 16"/>
          <p:cNvSpPr/>
          <p:nvPr/>
        </p:nvSpPr>
        <p:spPr>
          <a:xfrm>
            <a:off x="6126480" y="4572000"/>
            <a:ext cx="978408" cy="329184"/>
          </a:xfrm>
          <a:prstGeom prst="rect">
            <a:avLst/>
          </a:prstGeom>
          <a:noFill/>
          <a:ln/>
        </p:spPr>
        <p:txBody>
          <a:bodyPr wrap="square" lIns="0" tIns="0" rIns="0" bIns="0" rtlCol="0" anchor="ctr">
            <a:normAutofit/>
          </a:bodyPr>
          <a:lstStyle/>
          <a:p>
            <a:pPr algn="ctr" indent="0" marL="0">
              <a:buNone/>
            </a:pPr>
            <a:r>
              <a:rPr lang="en-US" sz="1100" b="1" dirty="0">
                <a:solidFill>
                  <a:srgbClr val="D9BA78"/>
                </a:solidFill>
                <a:latin typeface="Noto Sans CJK KR" pitchFamily="34" charset="0"/>
                <a:ea typeface="Noto Sans CJK KR" pitchFamily="34" charset="-122"/>
                <a:cs typeface="Noto Sans CJK KR" pitchFamily="34" charset="-120"/>
              </a:rPr>
              <a:t>MCP</a:t>
            </a:r>
            <a:endParaRPr lang="en-US" sz="1100" dirty="0"/>
          </a:p>
        </p:txBody>
      </p:sp>
      <p:sp>
        <p:nvSpPr>
          <p:cNvPr id="19" name="Shape 17"/>
          <p:cNvSpPr/>
          <p:nvPr/>
        </p:nvSpPr>
        <p:spPr>
          <a:xfrm>
            <a:off x="7370064" y="4562856"/>
            <a:ext cx="1828800" cy="365760"/>
          </a:xfrm>
          <a:prstGeom prst="roundRect">
            <a:avLst>
              <a:gd name="adj" fmla="val 45000"/>
            </a:avLst>
          </a:prstGeom>
          <a:solidFill>
            <a:srgbClr val="193246"/>
          </a:solidFill>
          <a:ln w="12700">
            <a:solidFill>
              <a:srgbClr val="193246">
                <a:alpha val="0"/>
              </a:srgbClr>
            </a:solidFill>
            <a:prstDash val="solid"/>
          </a:ln>
        </p:spPr>
      </p:sp>
      <p:sp>
        <p:nvSpPr>
          <p:cNvPr id="20" name="Text 18"/>
          <p:cNvSpPr/>
          <p:nvPr/>
        </p:nvSpPr>
        <p:spPr>
          <a:xfrm>
            <a:off x="7461504" y="4572000"/>
            <a:ext cx="1645920" cy="329184"/>
          </a:xfrm>
          <a:prstGeom prst="rect">
            <a:avLst/>
          </a:prstGeom>
          <a:noFill/>
          <a:ln/>
        </p:spPr>
        <p:txBody>
          <a:bodyPr wrap="square" lIns="0" tIns="0" rIns="0" bIns="0" rtlCol="0" anchor="ctr">
            <a:normAutofit/>
          </a:bodyPr>
          <a:lstStyle/>
          <a:p>
            <a:pPr algn="ctr" indent="0" marL="0">
              <a:buNone/>
            </a:pPr>
            <a:r>
              <a:rPr lang="en-US" sz="1100" b="1" dirty="0">
                <a:solidFill>
                  <a:srgbClr val="5FAEE9"/>
                </a:solidFill>
                <a:latin typeface="Noto Sans CJK KR" pitchFamily="34" charset="0"/>
                <a:ea typeface="Noto Sans CJK KR" pitchFamily="34" charset="-122"/>
                <a:cs typeface="Noto Sans CJK KR" pitchFamily="34" charset="-120"/>
              </a:rPr>
              <a:t>OpenAI API</a:t>
            </a:r>
            <a:endParaRPr lang="en-US" sz="1100" dirty="0"/>
          </a:p>
        </p:txBody>
      </p:sp>
      <p:sp>
        <p:nvSpPr>
          <p:cNvPr id="21" name="Text 19"/>
          <p:cNvSpPr/>
          <p:nvPr/>
        </p:nvSpPr>
        <p:spPr>
          <a:xfrm>
            <a:off x="758952" y="5742432"/>
            <a:ext cx="7498080" cy="338328"/>
          </a:xfrm>
          <a:prstGeom prst="rect">
            <a:avLst/>
          </a:prstGeom>
          <a:noFill/>
          <a:ln/>
        </p:spPr>
        <p:txBody>
          <a:bodyPr wrap="square" lIns="0" tIns="0" rIns="0" bIns="0" rtlCol="0" anchor="ctr">
            <a:normAutofit/>
          </a:bodyPr>
          <a:lstStyle/>
          <a:p>
            <a:pPr algn="l" indent="0" marL="0">
              <a:buNone/>
            </a:pPr>
            <a:r>
              <a:rPr lang="en-US" sz="1400" dirty="0">
                <a:solidFill>
                  <a:srgbClr val="AFC3D1"/>
                </a:solidFill>
                <a:latin typeface="Noto Sans CJK KR" pitchFamily="34" charset="0"/>
                <a:ea typeface="Noto Sans CJK KR" pitchFamily="34" charset="-122"/>
                <a:cs typeface="Noto Sans CJK KR" pitchFamily="34" charset="-120"/>
              </a:rPr>
              <a:t>발표자  김예찬     |     교육생 번호  [입력]</a:t>
            </a:r>
            <a:endParaRPr lang="en-US" sz="1400" dirty="0"/>
          </a:p>
        </p:txBody>
      </p:sp>
      <p:sp>
        <p:nvSpPr>
          <p:cNvPr id="22" name="Text 20"/>
          <p:cNvSpPr/>
          <p:nvPr/>
        </p:nvSpPr>
        <p:spPr>
          <a:xfrm>
            <a:off x="612648" y="6519672"/>
            <a:ext cx="5486400" cy="173736"/>
          </a:xfrm>
          <a:prstGeom prst="rect">
            <a:avLst/>
          </a:prstGeom>
          <a:noFill/>
          <a:ln/>
        </p:spPr>
        <p:txBody>
          <a:bodyPr wrap="square" lIns="0" tIns="0" rIns="0" bIns="0" rtlCol="0" anchor="ctr">
            <a:normAutofit/>
          </a:bodyPr>
          <a:lstStyle/>
          <a:p>
            <a:pPr algn="l" indent="0" marL="0">
              <a:buNone/>
            </a:pPr>
            <a:r>
              <a:rPr lang="en-US" sz="800" dirty="0">
                <a:solidFill>
                  <a:srgbClr val="AFC3D1"/>
                </a:solidFill>
                <a:latin typeface="Noto Sans CJK KR" pitchFamily="34" charset="0"/>
                <a:ea typeface="Noto Sans CJK KR" pitchFamily="34" charset="-122"/>
                <a:cs typeface="Noto Sans CJK KR" pitchFamily="34" charset="-120"/>
              </a:rPr>
              <a:t>DRAFTWISE AI  /  SKALA MINI-PROJECT</a:t>
            </a:r>
            <a:endParaRPr lang="en-US" sz="800" dirty="0"/>
          </a:p>
        </p:txBody>
      </p:sp>
      <p:sp>
        <p:nvSpPr>
          <p:cNvPr id="23" name="Text 21"/>
          <p:cNvSpPr/>
          <p:nvPr/>
        </p:nvSpPr>
        <p:spPr>
          <a:xfrm>
            <a:off x="10972800" y="6501384"/>
            <a:ext cx="585216" cy="201168"/>
          </a:xfrm>
          <a:prstGeom prst="rect">
            <a:avLst/>
          </a:prstGeom>
          <a:noFill/>
          <a:ln/>
        </p:spPr>
        <p:txBody>
          <a:bodyPr wrap="square" lIns="0" tIns="0" rIns="0" bIns="0" rtlCol="0" anchor="ctr">
            <a:normAutofit/>
          </a:bodyPr>
          <a:lstStyle/>
          <a:p>
            <a:pPr algn="r" indent="0" marL="0">
              <a:buNone/>
            </a:pPr>
            <a:r>
              <a:rPr lang="en-US" sz="900" dirty="0">
                <a:solidFill>
                  <a:srgbClr val="D9BA78"/>
                </a:solidFill>
                <a:latin typeface="Noto Sans CJK KR" pitchFamily="34" charset="0"/>
                <a:ea typeface="Noto Sans CJK KR" pitchFamily="34" charset="-122"/>
                <a:cs typeface="Noto Sans CJK KR" pitchFamily="34" charset="-120"/>
              </a:rPr>
              <a:t>01 / 08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gd name="adj" fmla="val 189474"/>
            </a:avLst>
          </a:prstGeom>
          <a:solidFill>
            <a:srgbClr val="D9BA78"/>
          </a:solidFill>
          <a:ln w="12700">
            <a:solidFill>
              <a:srgbClr val="D9BA78">
                <a:alpha val="0"/>
              </a:srgbClr>
            </a:solidFill>
            <a:prstDash val="solid"/>
          </a:ln>
        </p:spPr>
      </p:sp>
      <p:sp>
        <p:nvSpPr>
          <p:cNvPr id="3" name="Shape 1"/>
          <p:cNvSpPr/>
          <p:nvPr/>
        </p:nvSpPr>
        <p:spPr>
          <a:xfrm>
            <a:off x="10378440" y="164592"/>
            <a:ext cx="1444752" cy="1444752"/>
          </a:xfrm>
          <a:prstGeom prst="ellipse">
            <a:avLst/>
          </a:prstGeom>
          <a:solidFill>
            <a:srgbClr val="0D1F2D"/>
          </a:solidFill>
          <a:ln w="12700">
            <a:solidFill>
              <a:srgbClr val="0D1F2D">
                <a:alpha val="0"/>
              </a:srgbClr>
            </a:solidFill>
            <a:prstDash val="solid"/>
          </a:ln>
        </p:spPr>
      </p:sp>
      <p:sp>
        <p:nvSpPr>
          <p:cNvPr id="4" name="Text 2"/>
          <p:cNvSpPr/>
          <p:nvPr/>
        </p:nvSpPr>
        <p:spPr>
          <a:xfrm>
            <a:off x="603504" y="347472"/>
            <a:ext cx="7315200" cy="274320"/>
          </a:xfrm>
          <a:prstGeom prst="rect">
            <a:avLst/>
          </a:prstGeom>
          <a:noFill/>
          <a:ln/>
        </p:spPr>
        <p:txBody>
          <a:bodyPr wrap="square" lIns="0" tIns="0" rIns="0" bIns="0" rtlCol="0" anchor="ctr">
            <a:normAutofit/>
          </a:bodyPr>
          <a:lstStyle/>
          <a:p>
            <a:pPr algn="l" indent="0" marL="0">
              <a:buNone/>
            </a:pPr>
            <a:r>
              <a:rPr lang="en-US" sz="1000" b="1" spc="180" kern="0" dirty="0">
                <a:solidFill>
                  <a:srgbClr val="D9BA78"/>
                </a:solidFill>
                <a:latin typeface="Noto Sans CJK KR" pitchFamily="34" charset="0"/>
                <a:ea typeface="Noto Sans CJK KR" pitchFamily="34" charset="-122"/>
                <a:cs typeface="Noto Sans CJK KR" pitchFamily="34" charset="-120"/>
              </a:rPr>
              <a:t>01 / PROBLEM &amp; VALUE</a:t>
            </a:r>
            <a:endParaRPr lang="en-US" sz="1000" dirty="0"/>
          </a:p>
        </p:txBody>
      </p:sp>
      <p:sp>
        <p:nvSpPr>
          <p:cNvPr id="5" name="Text 3"/>
          <p:cNvSpPr/>
          <p:nvPr/>
        </p:nvSpPr>
        <p:spPr>
          <a:xfrm>
            <a:off x="603504" y="749808"/>
            <a:ext cx="10927080" cy="640080"/>
          </a:xfrm>
          <a:prstGeom prst="rect">
            <a:avLst/>
          </a:prstGeom>
          <a:noFill/>
          <a:ln/>
        </p:spPr>
        <p:txBody>
          <a:bodyPr wrap="square" lIns="0" tIns="0" rIns="0" bIns="0" rtlCol="0" anchor="ctr">
            <a:normAutofit/>
          </a:bodyPr>
          <a:lstStyle/>
          <a:p>
            <a:pPr algn="l" indent="0" marL="0">
              <a:buNone/>
            </a:pPr>
            <a:r>
              <a:rPr lang="en-US" sz="2800" b="1" dirty="0">
                <a:solidFill>
                  <a:srgbClr val="F5F7FA"/>
                </a:solidFill>
                <a:latin typeface="Noto Sans CJK KR" pitchFamily="34" charset="0"/>
                <a:ea typeface="Noto Sans CJK KR" pitchFamily="34" charset="-122"/>
                <a:cs typeface="Noto Sans CJK KR" pitchFamily="34" charset="-120"/>
              </a:rPr>
              <a:t>티어표만으로는 팀 조합을 판단하기 어렵다</a:t>
            </a:r>
            <a:endParaRPr lang="en-US" sz="2800" dirty="0"/>
          </a:p>
        </p:txBody>
      </p:sp>
      <p:sp>
        <p:nvSpPr>
          <p:cNvPr id="6" name="Shape 4"/>
          <p:cNvSpPr/>
          <p:nvPr/>
        </p:nvSpPr>
        <p:spPr>
          <a:xfrm>
            <a:off x="603504" y="1499616"/>
            <a:ext cx="10991088" cy="0"/>
          </a:xfrm>
          <a:prstGeom prst="line">
            <a:avLst>
              <a:gd name="adj" fmla="val Infinity"/>
            </a:avLst>
          </a:prstGeom>
          <a:solidFill>
            <a:srgbClr val="2B4555"/>
          </a:solidFill>
          <a:ln w="10160">
            <a:solidFill>
              <a:srgbClr val="2B4555"/>
            </a:solidFill>
            <a:prstDash val="solid"/>
          </a:ln>
        </p:spPr>
      </p:sp>
      <p:sp>
        <p:nvSpPr>
          <p:cNvPr id="7" name="Text 5"/>
          <p:cNvSpPr/>
          <p:nvPr/>
        </p:nvSpPr>
        <p:spPr>
          <a:xfrm>
            <a:off x="612648" y="6519672"/>
            <a:ext cx="5486400" cy="173736"/>
          </a:xfrm>
          <a:prstGeom prst="rect">
            <a:avLst/>
          </a:prstGeom>
          <a:noFill/>
          <a:ln/>
        </p:spPr>
        <p:txBody>
          <a:bodyPr wrap="square" lIns="0" tIns="0" rIns="0" bIns="0" rtlCol="0" anchor="ctr">
            <a:normAutofit/>
          </a:bodyPr>
          <a:lstStyle/>
          <a:p>
            <a:pPr algn="l" indent="0" marL="0">
              <a:buNone/>
            </a:pPr>
            <a:r>
              <a:rPr lang="en-US" sz="800" dirty="0">
                <a:solidFill>
                  <a:srgbClr val="AFC3D1"/>
                </a:solidFill>
                <a:latin typeface="Noto Sans CJK KR" pitchFamily="34" charset="0"/>
                <a:ea typeface="Noto Sans CJK KR" pitchFamily="34" charset="-122"/>
                <a:cs typeface="Noto Sans CJK KR" pitchFamily="34" charset="-120"/>
              </a:rPr>
              <a:t>DRAFTWISE AI  /  SKALA MINI-PROJECT</a:t>
            </a:r>
            <a:endParaRPr lang="en-US" sz="800" dirty="0"/>
          </a:p>
        </p:txBody>
      </p:sp>
      <p:sp>
        <p:nvSpPr>
          <p:cNvPr id="8" name="Text 6"/>
          <p:cNvSpPr/>
          <p:nvPr/>
        </p:nvSpPr>
        <p:spPr>
          <a:xfrm>
            <a:off x="10972800" y="6501384"/>
            <a:ext cx="585216" cy="201168"/>
          </a:xfrm>
          <a:prstGeom prst="rect">
            <a:avLst/>
          </a:prstGeom>
          <a:noFill/>
          <a:ln/>
        </p:spPr>
        <p:txBody>
          <a:bodyPr wrap="square" lIns="0" tIns="0" rIns="0" bIns="0" rtlCol="0" anchor="ctr">
            <a:normAutofit/>
          </a:bodyPr>
          <a:lstStyle/>
          <a:p>
            <a:pPr algn="r" indent="0" marL="0">
              <a:buNone/>
            </a:pPr>
            <a:r>
              <a:rPr lang="en-US" sz="900" dirty="0">
                <a:solidFill>
                  <a:srgbClr val="D9BA78"/>
                </a:solidFill>
                <a:latin typeface="Noto Sans CJK KR" pitchFamily="34" charset="0"/>
                <a:ea typeface="Noto Sans CJK KR" pitchFamily="34" charset="-122"/>
                <a:cs typeface="Noto Sans CJK KR" pitchFamily="34" charset="-120"/>
              </a:rPr>
              <a:t>02 / 08</a:t>
            </a:r>
            <a:endParaRPr lang="en-US" sz="900" dirty="0"/>
          </a:p>
        </p:txBody>
      </p:sp>
      <p:sp>
        <p:nvSpPr>
          <p:cNvPr id="9" name="Shape 7"/>
          <p:cNvSpPr/>
          <p:nvPr/>
        </p:nvSpPr>
        <p:spPr>
          <a:xfrm>
            <a:off x="621792" y="1847088"/>
            <a:ext cx="3584448" cy="1527048"/>
          </a:xfrm>
          <a:prstGeom prst="roundRect">
            <a:avLst>
              <a:gd name="adj" fmla="val 10778"/>
            </a:avLst>
          </a:prstGeom>
          <a:solidFill>
            <a:srgbClr val="122637"/>
          </a:solidFill>
          <a:ln w="12700">
            <a:solidFill>
              <a:srgbClr val="122637">
                <a:alpha val="0"/>
              </a:srgbClr>
            </a:solidFill>
            <a:prstDash val="solid"/>
          </a:ln>
        </p:spPr>
      </p:sp>
      <p:sp>
        <p:nvSpPr>
          <p:cNvPr id="10" name="Text 8"/>
          <p:cNvSpPr/>
          <p:nvPr/>
        </p:nvSpPr>
        <p:spPr>
          <a:xfrm>
            <a:off x="841248" y="2039112"/>
            <a:ext cx="548640" cy="365760"/>
          </a:xfrm>
          <a:prstGeom prst="rect">
            <a:avLst/>
          </a:prstGeom>
          <a:noFill/>
          <a:ln/>
        </p:spPr>
        <p:txBody>
          <a:bodyPr wrap="square" lIns="0" tIns="0" rIns="0" bIns="0" rtlCol="0" anchor="ctr">
            <a:normAutofit/>
          </a:bodyPr>
          <a:lstStyle/>
          <a:p>
            <a:pPr algn="l" indent="0" marL="0">
              <a:buNone/>
            </a:pPr>
            <a:r>
              <a:rPr lang="en-US" sz="2200" b="1" dirty="0">
                <a:solidFill>
                  <a:srgbClr val="D9BA78"/>
                </a:solidFill>
                <a:latin typeface="Noto Sans CJK KR" pitchFamily="34" charset="0"/>
                <a:ea typeface="Noto Sans CJK KR" pitchFamily="34" charset="-122"/>
                <a:cs typeface="Noto Sans CJK KR" pitchFamily="34" charset="-120"/>
              </a:rPr>
              <a:t>01</a:t>
            </a:r>
            <a:endParaRPr lang="en-US" sz="2200" dirty="0"/>
          </a:p>
        </p:txBody>
      </p:sp>
      <p:sp>
        <p:nvSpPr>
          <p:cNvPr id="11" name="Text 9"/>
          <p:cNvSpPr/>
          <p:nvPr/>
        </p:nvSpPr>
        <p:spPr>
          <a:xfrm>
            <a:off x="1490472" y="2029968"/>
            <a:ext cx="2450592" cy="411480"/>
          </a:xfrm>
          <a:prstGeom prst="rect">
            <a:avLst/>
          </a:prstGeom>
          <a:noFill/>
          <a:ln/>
        </p:spPr>
        <p:txBody>
          <a:bodyPr wrap="square" lIns="0" tIns="0" rIns="0" bIns="0" rtlCol="0" anchor="ctr">
            <a:normAutofit/>
          </a:bodyPr>
          <a:lstStyle/>
          <a:p>
            <a:pPr algn="l" indent="0" marL="0">
              <a:buNone/>
            </a:pPr>
            <a:r>
              <a:rPr lang="en-US" sz="1700" b="1" dirty="0">
                <a:solidFill>
                  <a:srgbClr val="F5F7FA"/>
                </a:solidFill>
                <a:latin typeface="Noto Sans CJK KR" pitchFamily="34" charset="0"/>
                <a:ea typeface="Noto Sans CJK KR" pitchFamily="34" charset="-122"/>
                <a:cs typeface="Noto Sans CJK KR" pitchFamily="34" charset="-120"/>
              </a:rPr>
              <a:t>딜 유형 편중</a:t>
            </a:r>
            <a:endParaRPr lang="en-US" sz="1700" dirty="0"/>
          </a:p>
        </p:txBody>
      </p:sp>
      <p:sp>
        <p:nvSpPr>
          <p:cNvPr id="12" name="Text 10"/>
          <p:cNvSpPr/>
          <p:nvPr/>
        </p:nvSpPr>
        <p:spPr>
          <a:xfrm>
            <a:off x="841248" y="2651760"/>
            <a:ext cx="3200400" cy="475488"/>
          </a:xfrm>
          <a:prstGeom prst="rect">
            <a:avLst/>
          </a:prstGeom>
          <a:noFill/>
          <a:ln/>
        </p:spPr>
        <p:txBody>
          <a:bodyPr wrap="square" lIns="0" tIns="0" rIns="0" bIns="0" rtlCol="0" anchor="ctr">
            <a:normAutofit/>
          </a:bodyPr>
          <a:lstStyle/>
          <a:p>
            <a:pPr algn="l" indent="0" marL="0">
              <a:buNone/>
            </a:pPr>
            <a:r>
              <a:rPr lang="en-US" sz="1200" dirty="0">
                <a:solidFill>
                  <a:srgbClr val="AFC3D1"/>
                </a:solidFill>
                <a:latin typeface="Noto Sans CJK KR" pitchFamily="34" charset="0"/>
                <a:ea typeface="Noto Sans CJK KR" pitchFamily="34" charset="-122"/>
                <a:cs typeface="Noto Sans CJK KR" pitchFamily="34" charset="-120"/>
              </a:rPr>
              <a:t>AD·AP 균형이 맞지 않아 대응당하기 쉬움</a:t>
            </a:r>
            <a:endParaRPr lang="en-US" sz="1200" dirty="0"/>
          </a:p>
        </p:txBody>
      </p:sp>
      <p:sp>
        <p:nvSpPr>
          <p:cNvPr id="13" name="Shape 11"/>
          <p:cNvSpPr/>
          <p:nvPr/>
        </p:nvSpPr>
        <p:spPr>
          <a:xfrm>
            <a:off x="4462272" y="1847088"/>
            <a:ext cx="3584448" cy="1527048"/>
          </a:xfrm>
          <a:prstGeom prst="roundRect">
            <a:avLst>
              <a:gd name="adj" fmla="val 10778"/>
            </a:avLst>
          </a:prstGeom>
          <a:solidFill>
            <a:srgbClr val="122637"/>
          </a:solidFill>
          <a:ln w="12700">
            <a:solidFill>
              <a:srgbClr val="122637">
                <a:alpha val="0"/>
              </a:srgbClr>
            </a:solidFill>
            <a:prstDash val="solid"/>
          </a:ln>
        </p:spPr>
      </p:sp>
      <p:sp>
        <p:nvSpPr>
          <p:cNvPr id="14" name="Text 12"/>
          <p:cNvSpPr/>
          <p:nvPr/>
        </p:nvSpPr>
        <p:spPr>
          <a:xfrm>
            <a:off x="4681728" y="2039112"/>
            <a:ext cx="548640" cy="365760"/>
          </a:xfrm>
          <a:prstGeom prst="rect">
            <a:avLst/>
          </a:prstGeom>
          <a:noFill/>
          <a:ln/>
        </p:spPr>
        <p:txBody>
          <a:bodyPr wrap="square" lIns="0" tIns="0" rIns="0" bIns="0" rtlCol="0" anchor="ctr">
            <a:normAutofit/>
          </a:bodyPr>
          <a:lstStyle/>
          <a:p>
            <a:pPr algn="l" indent="0" marL="0">
              <a:buNone/>
            </a:pPr>
            <a:r>
              <a:rPr lang="en-US" sz="2200" b="1" dirty="0">
                <a:solidFill>
                  <a:srgbClr val="D9BA78"/>
                </a:solidFill>
                <a:latin typeface="Noto Sans CJK KR" pitchFamily="34" charset="0"/>
                <a:ea typeface="Noto Sans CJK KR" pitchFamily="34" charset="-122"/>
                <a:cs typeface="Noto Sans CJK KR" pitchFamily="34" charset="-120"/>
              </a:rPr>
              <a:t>02</a:t>
            </a:r>
            <a:endParaRPr lang="en-US" sz="2200" dirty="0"/>
          </a:p>
        </p:txBody>
      </p:sp>
      <p:sp>
        <p:nvSpPr>
          <p:cNvPr id="15" name="Text 13"/>
          <p:cNvSpPr/>
          <p:nvPr/>
        </p:nvSpPr>
        <p:spPr>
          <a:xfrm>
            <a:off x="5330952" y="2029968"/>
            <a:ext cx="2450592" cy="411480"/>
          </a:xfrm>
          <a:prstGeom prst="rect">
            <a:avLst/>
          </a:prstGeom>
          <a:noFill/>
          <a:ln/>
        </p:spPr>
        <p:txBody>
          <a:bodyPr wrap="square" lIns="0" tIns="0" rIns="0" bIns="0" rtlCol="0" anchor="ctr">
            <a:normAutofit/>
          </a:bodyPr>
          <a:lstStyle/>
          <a:p>
            <a:pPr algn="l" indent="0" marL="0">
              <a:buNone/>
            </a:pPr>
            <a:r>
              <a:rPr lang="en-US" sz="1700" b="1" dirty="0">
                <a:solidFill>
                  <a:srgbClr val="F5F7FA"/>
                </a:solidFill>
                <a:latin typeface="Noto Sans CJK KR" pitchFamily="34" charset="0"/>
                <a:ea typeface="Noto Sans CJK KR" pitchFamily="34" charset="-122"/>
                <a:cs typeface="Noto Sans CJK KR" pitchFamily="34" charset="-120"/>
              </a:rPr>
              <a:t>앞라인과 CC 부족</a:t>
            </a:r>
            <a:endParaRPr lang="en-US" sz="1700" dirty="0"/>
          </a:p>
        </p:txBody>
      </p:sp>
      <p:sp>
        <p:nvSpPr>
          <p:cNvPr id="16" name="Text 14"/>
          <p:cNvSpPr/>
          <p:nvPr/>
        </p:nvSpPr>
        <p:spPr>
          <a:xfrm>
            <a:off x="4681728" y="2651760"/>
            <a:ext cx="3200400" cy="475488"/>
          </a:xfrm>
          <a:prstGeom prst="rect">
            <a:avLst/>
          </a:prstGeom>
          <a:noFill/>
          <a:ln/>
        </p:spPr>
        <p:txBody>
          <a:bodyPr wrap="square" lIns="0" tIns="0" rIns="0" bIns="0" rtlCol="0" anchor="ctr">
            <a:normAutofit/>
          </a:bodyPr>
          <a:lstStyle/>
          <a:p>
            <a:pPr algn="l" indent="0" marL="0">
              <a:buNone/>
            </a:pPr>
            <a:r>
              <a:rPr lang="en-US" sz="1200" dirty="0">
                <a:solidFill>
                  <a:srgbClr val="AFC3D1"/>
                </a:solidFill>
                <a:latin typeface="Noto Sans CJK KR" pitchFamily="34" charset="0"/>
                <a:ea typeface="Noto Sans CJK KR" pitchFamily="34" charset="-122"/>
                <a:cs typeface="Noto Sans CJK KR" pitchFamily="34" charset="-120"/>
              </a:rPr>
              <a:t>교전 개시·보호 역할의 빈자리를 놓침</a:t>
            </a:r>
            <a:endParaRPr lang="en-US" sz="1200" dirty="0"/>
          </a:p>
        </p:txBody>
      </p:sp>
      <p:sp>
        <p:nvSpPr>
          <p:cNvPr id="17" name="Shape 15"/>
          <p:cNvSpPr/>
          <p:nvPr/>
        </p:nvSpPr>
        <p:spPr>
          <a:xfrm>
            <a:off x="8302752" y="1847088"/>
            <a:ext cx="3584448" cy="1527048"/>
          </a:xfrm>
          <a:prstGeom prst="roundRect">
            <a:avLst>
              <a:gd name="adj" fmla="val 10778"/>
            </a:avLst>
          </a:prstGeom>
          <a:solidFill>
            <a:srgbClr val="122637"/>
          </a:solidFill>
          <a:ln w="12700">
            <a:solidFill>
              <a:srgbClr val="122637">
                <a:alpha val="0"/>
              </a:srgbClr>
            </a:solidFill>
            <a:prstDash val="solid"/>
          </a:ln>
        </p:spPr>
      </p:sp>
      <p:sp>
        <p:nvSpPr>
          <p:cNvPr id="18" name="Text 16"/>
          <p:cNvSpPr/>
          <p:nvPr/>
        </p:nvSpPr>
        <p:spPr>
          <a:xfrm>
            <a:off x="8522208" y="2039112"/>
            <a:ext cx="548640" cy="365760"/>
          </a:xfrm>
          <a:prstGeom prst="rect">
            <a:avLst/>
          </a:prstGeom>
          <a:noFill/>
          <a:ln/>
        </p:spPr>
        <p:txBody>
          <a:bodyPr wrap="square" lIns="0" tIns="0" rIns="0" bIns="0" rtlCol="0" anchor="ctr">
            <a:normAutofit/>
          </a:bodyPr>
          <a:lstStyle/>
          <a:p>
            <a:pPr algn="l" indent="0" marL="0">
              <a:buNone/>
            </a:pPr>
            <a:r>
              <a:rPr lang="en-US" sz="2200" b="1" dirty="0">
                <a:solidFill>
                  <a:srgbClr val="D9BA78"/>
                </a:solidFill>
                <a:latin typeface="Noto Sans CJK KR" pitchFamily="34" charset="0"/>
                <a:ea typeface="Noto Sans CJK KR" pitchFamily="34" charset="-122"/>
                <a:cs typeface="Noto Sans CJK KR" pitchFamily="34" charset="-120"/>
              </a:rPr>
              <a:t>03</a:t>
            </a:r>
            <a:endParaRPr lang="en-US" sz="2200" dirty="0"/>
          </a:p>
        </p:txBody>
      </p:sp>
      <p:sp>
        <p:nvSpPr>
          <p:cNvPr id="19" name="Text 17"/>
          <p:cNvSpPr/>
          <p:nvPr/>
        </p:nvSpPr>
        <p:spPr>
          <a:xfrm>
            <a:off x="9171432" y="2029968"/>
            <a:ext cx="2450592" cy="411480"/>
          </a:xfrm>
          <a:prstGeom prst="rect">
            <a:avLst/>
          </a:prstGeom>
          <a:noFill/>
          <a:ln/>
        </p:spPr>
        <p:txBody>
          <a:bodyPr wrap="square" lIns="0" tIns="0" rIns="0" bIns="0" rtlCol="0" anchor="ctr">
            <a:normAutofit/>
          </a:bodyPr>
          <a:lstStyle/>
          <a:p>
            <a:pPr algn="l" indent="0" marL="0">
              <a:buNone/>
            </a:pPr>
            <a:r>
              <a:rPr lang="en-US" sz="1700" b="1" dirty="0">
                <a:solidFill>
                  <a:srgbClr val="F5F7FA"/>
                </a:solidFill>
                <a:latin typeface="Noto Sans CJK KR" pitchFamily="34" charset="0"/>
                <a:ea typeface="Noto Sans CJK KR" pitchFamily="34" charset="-122"/>
                <a:cs typeface="Noto Sans CJK KR" pitchFamily="34" charset="-120"/>
              </a:rPr>
              <a:t>개인 숙련도 미반영</a:t>
            </a:r>
            <a:endParaRPr lang="en-US" sz="1700" dirty="0"/>
          </a:p>
        </p:txBody>
      </p:sp>
      <p:sp>
        <p:nvSpPr>
          <p:cNvPr id="20" name="Text 18"/>
          <p:cNvSpPr/>
          <p:nvPr/>
        </p:nvSpPr>
        <p:spPr>
          <a:xfrm>
            <a:off x="8522208" y="2651760"/>
            <a:ext cx="3200400" cy="475488"/>
          </a:xfrm>
          <a:prstGeom prst="rect">
            <a:avLst/>
          </a:prstGeom>
          <a:noFill/>
          <a:ln/>
        </p:spPr>
        <p:txBody>
          <a:bodyPr wrap="square" lIns="0" tIns="0" rIns="0" bIns="0" rtlCol="0" anchor="ctr">
            <a:normAutofit/>
          </a:bodyPr>
          <a:lstStyle/>
          <a:p>
            <a:pPr algn="l" indent="0" marL="0">
              <a:buNone/>
            </a:pPr>
            <a:r>
              <a:rPr lang="en-US" sz="1200" dirty="0">
                <a:solidFill>
                  <a:srgbClr val="AFC3D1"/>
                </a:solidFill>
                <a:latin typeface="Noto Sans CJK KR" pitchFamily="34" charset="0"/>
                <a:ea typeface="Noto Sans CJK KR" pitchFamily="34" charset="-122"/>
                <a:cs typeface="Noto Sans CJK KR" pitchFamily="34" charset="-120"/>
              </a:rPr>
              <a:t>승률이 높아도 내가 못 쓰는 픽일 수 있음</a:t>
            </a:r>
            <a:endParaRPr lang="en-US" sz="1200" dirty="0"/>
          </a:p>
        </p:txBody>
      </p:sp>
      <p:sp>
        <p:nvSpPr>
          <p:cNvPr id="21" name="Shape 19"/>
          <p:cNvSpPr/>
          <p:nvPr/>
        </p:nvSpPr>
        <p:spPr>
          <a:xfrm>
            <a:off x="621792" y="3758184"/>
            <a:ext cx="10936224" cy="1783080"/>
          </a:xfrm>
          <a:prstGeom prst="roundRect">
            <a:avLst>
              <a:gd name="adj" fmla="val 9231"/>
            </a:avLst>
          </a:prstGeom>
          <a:solidFill>
            <a:srgbClr val="122637"/>
          </a:solidFill>
          <a:ln w="12700">
            <a:solidFill>
              <a:srgbClr val="122637">
                <a:alpha val="0"/>
              </a:srgbClr>
            </a:solidFill>
            <a:prstDash val="solid"/>
          </a:ln>
        </p:spPr>
      </p:sp>
      <p:sp>
        <p:nvSpPr>
          <p:cNvPr id="22" name="Text 20"/>
          <p:cNvSpPr/>
          <p:nvPr/>
        </p:nvSpPr>
        <p:spPr>
          <a:xfrm>
            <a:off x="822960" y="3913632"/>
            <a:ext cx="10533888" cy="347472"/>
          </a:xfrm>
          <a:prstGeom prst="rect">
            <a:avLst/>
          </a:prstGeom>
          <a:noFill/>
          <a:ln/>
        </p:spPr>
        <p:txBody>
          <a:bodyPr wrap="square" lIns="0" tIns="0" rIns="0" bIns="0" rtlCol="0" anchor="ctr">
            <a:normAutofit/>
          </a:bodyPr>
          <a:lstStyle/>
          <a:p>
            <a:pPr algn="l" indent="0" marL="0">
              <a:buNone/>
            </a:pPr>
            <a:r>
              <a:rPr lang="en-US" sz="1400" b="1" dirty="0">
                <a:solidFill>
                  <a:srgbClr val="D9BA78"/>
                </a:solidFill>
                <a:latin typeface="Noto Sans CJK KR" pitchFamily="34" charset="0"/>
                <a:ea typeface="Noto Sans CJK KR" pitchFamily="34" charset="-122"/>
                <a:cs typeface="Noto Sans CJK KR" pitchFamily="34" charset="-120"/>
              </a:rPr>
              <a:t>DraftWise AI의 해결 방식</a:t>
            </a:r>
            <a:endParaRPr lang="en-US" sz="1400" dirty="0"/>
          </a:p>
        </p:txBody>
      </p:sp>
      <p:sp>
        <p:nvSpPr>
          <p:cNvPr id="23" name="Shape 21"/>
          <p:cNvSpPr/>
          <p:nvPr/>
        </p:nvSpPr>
        <p:spPr>
          <a:xfrm>
            <a:off x="1097280" y="4498848"/>
            <a:ext cx="1947672" cy="365760"/>
          </a:xfrm>
          <a:prstGeom prst="roundRect">
            <a:avLst>
              <a:gd name="adj" fmla="val 45000"/>
            </a:avLst>
          </a:prstGeom>
          <a:solidFill>
            <a:srgbClr val="193246"/>
          </a:solidFill>
          <a:ln w="12700">
            <a:solidFill>
              <a:srgbClr val="193246">
                <a:alpha val="0"/>
              </a:srgbClr>
            </a:solidFill>
            <a:prstDash val="solid"/>
          </a:ln>
        </p:spPr>
      </p:sp>
      <p:sp>
        <p:nvSpPr>
          <p:cNvPr id="24" name="Text 22"/>
          <p:cNvSpPr/>
          <p:nvPr/>
        </p:nvSpPr>
        <p:spPr>
          <a:xfrm>
            <a:off x="1188720" y="4507992"/>
            <a:ext cx="1764792" cy="329184"/>
          </a:xfrm>
          <a:prstGeom prst="rect">
            <a:avLst/>
          </a:prstGeom>
          <a:noFill/>
          <a:ln/>
        </p:spPr>
        <p:txBody>
          <a:bodyPr wrap="square" lIns="0" tIns="0" rIns="0" bIns="0" rtlCol="0" anchor="ctr">
            <a:normAutofit/>
          </a:bodyPr>
          <a:lstStyle/>
          <a:p>
            <a:pPr algn="ctr" indent="0" marL="0">
              <a:buNone/>
            </a:pPr>
            <a:r>
              <a:rPr lang="en-US" sz="1300" b="1" dirty="0">
                <a:solidFill>
                  <a:srgbClr val="5FAEE9"/>
                </a:solidFill>
                <a:latin typeface="Noto Sans CJK KR" pitchFamily="34" charset="0"/>
                <a:ea typeface="Noto Sans CJK KR" pitchFamily="34" charset="-122"/>
                <a:cs typeface="Noto Sans CJK KR" pitchFamily="34" charset="-120"/>
              </a:rPr>
              <a:t>팀 픽·밴</a:t>
            </a:r>
            <a:endParaRPr lang="en-US" sz="1300" dirty="0"/>
          </a:p>
        </p:txBody>
      </p:sp>
      <p:sp>
        <p:nvSpPr>
          <p:cNvPr id="25" name="Text 23"/>
          <p:cNvSpPr/>
          <p:nvPr/>
        </p:nvSpPr>
        <p:spPr>
          <a:xfrm>
            <a:off x="3200400" y="4507992"/>
            <a:ext cx="402336" cy="338328"/>
          </a:xfrm>
          <a:prstGeom prst="rect">
            <a:avLst/>
          </a:prstGeom>
          <a:noFill/>
          <a:ln/>
        </p:spPr>
        <p:txBody>
          <a:bodyPr wrap="square" lIns="0" tIns="0" rIns="0" bIns="0" rtlCol="0" anchor="ctr">
            <a:normAutofit/>
          </a:bodyPr>
          <a:lstStyle/>
          <a:p>
            <a:pPr algn="ctr" indent="0" marL="0">
              <a:buNone/>
            </a:pPr>
            <a:r>
              <a:rPr lang="en-US" sz="2600" b="1" dirty="0">
                <a:solidFill>
                  <a:srgbClr val="D9BA78"/>
                </a:solidFill>
                <a:latin typeface="Noto Sans CJK KR" pitchFamily="34" charset="0"/>
                <a:ea typeface="Noto Sans CJK KR" pitchFamily="34" charset="-122"/>
                <a:cs typeface="Noto Sans CJK KR" pitchFamily="34" charset="-120"/>
              </a:rPr>
              <a:t>→</a:t>
            </a:r>
            <a:endParaRPr lang="en-US" sz="2600" dirty="0"/>
          </a:p>
        </p:txBody>
      </p:sp>
      <p:sp>
        <p:nvSpPr>
          <p:cNvPr id="26" name="Shape 24"/>
          <p:cNvSpPr/>
          <p:nvPr/>
        </p:nvSpPr>
        <p:spPr>
          <a:xfrm>
            <a:off x="3657600" y="4498848"/>
            <a:ext cx="2423160" cy="365760"/>
          </a:xfrm>
          <a:prstGeom prst="roundRect">
            <a:avLst>
              <a:gd name="adj" fmla="val 45000"/>
            </a:avLst>
          </a:prstGeom>
          <a:solidFill>
            <a:srgbClr val="193246"/>
          </a:solidFill>
          <a:ln w="12700">
            <a:solidFill>
              <a:srgbClr val="193246">
                <a:alpha val="0"/>
              </a:srgbClr>
            </a:solidFill>
            <a:prstDash val="solid"/>
          </a:ln>
        </p:spPr>
      </p:sp>
      <p:sp>
        <p:nvSpPr>
          <p:cNvPr id="27" name="Text 25"/>
          <p:cNvSpPr/>
          <p:nvPr/>
        </p:nvSpPr>
        <p:spPr>
          <a:xfrm>
            <a:off x="3749040" y="4507992"/>
            <a:ext cx="2240280" cy="329184"/>
          </a:xfrm>
          <a:prstGeom prst="rect">
            <a:avLst/>
          </a:prstGeom>
          <a:noFill/>
          <a:ln/>
        </p:spPr>
        <p:txBody>
          <a:bodyPr wrap="square" lIns="0" tIns="0" rIns="0" bIns="0" rtlCol="0" anchor="ctr">
            <a:normAutofit/>
          </a:bodyPr>
          <a:lstStyle/>
          <a:p>
            <a:pPr algn="ctr" indent="0" marL="0">
              <a:buNone/>
            </a:pPr>
            <a:r>
              <a:rPr lang="en-US" sz="1300" b="1" dirty="0">
                <a:solidFill>
                  <a:srgbClr val="D9BA78"/>
                </a:solidFill>
                <a:latin typeface="Noto Sans CJK KR" pitchFamily="34" charset="0"/>
                <a:ea typeface="Noto Sans CJK KR" pitchFamily="34" charset="-122"/>
                <a:cs typeface="Noto Sans CJK KR" pitchFamily="34" charset="-120"/>
              </a:rPr>
              <a:t>조합·숙련도 평가</a:t>
            </a:r>
            <a:endParaRPr lang="en-US" sz="1300" dirty="0"/>
          </a:p>
        </p:txBody>
      </p:sp>
      <p:sp>
        <p:nvSpPr>
          <p:cNvPr id="28" name="Text 26"/>
          <p:cNvSpPr/>
          <p:nvPr/>
        </p:nvSpPr>
        <p:spPr>
          <a:xfrm>
            <a:off x="6153912" y="4507992"/>
            <a:ext cx="402336" cy="338328"/>
          </a:xfrm>
          <a:prstGeom prst="rect">
            <a:avLst/>
          </a:prstGeom>
          <a:noFill/>
          <a:ln/>
        </p:spPr>
        <p:txBody>
          <a:bodyPr wrap="square" lIns="0" tIns="0" rIns="0" bIns="0" rtlCol="0" anchor="ctr">
            <a:normAutofit/>
          </a:bodyPr>
          <a:lstStyle/>
          <a:p>
            <a:pPr algn="ctr" indent="0" marL="0">
              <a:buNone/>
            </a:pPr>
            <a:r>
              <a:rPr lang="en-US" sz="2600" b="1" dirty="0">
                <a:solidFill>
                  <a:srgbClr val="D9BA78"/>
                </a:solidFill>
                <a:latin typeface="Noto Sans CJK KR" pitchFamily="34" charset="0"/>
                <a:ea typeface="Noto Sans CJK KR" pitchFamily="34" charset="-122"/>
                <a:cs typeface="Noto Sans CJK KR" pitchFamily="34" charset="-120"/>
              </a:rPr>
              <a:t>→</a:t>
            </a:r>
            <a:endParaRPr lang="en-US" sz="2600" dirty="0"/>
          </a:p>
        </p:txBody>
      </p:sp>
      <p:sp>
        <p:nvSpPr>
          <p:cNvPr id="29" name="Shape 27"/>
          <p:cNvSpPr/>
          <p:nvPr/>
        </p:nvSpPr>
        <p:spPr>
          <a:xfrm>
            <a:off x="6656832" y="4498848"/>
            <a:ext cx="2377440" cy="365760"/>
          </a:xfrm>
          <a:prstGeom prst="roundRect">
            <a:avLst>
              <a:gd name="adj" fmla="val 45000"/>
            </a:avLst>
          </a:prstGeom>
          <a:solidFill>
            <a:srgbClr val="193246"/>
          </a:solidFill>
          <a:ln w="12700">
            <a:solidFill>
              <a:srgbClr val="193246">
                <a:alpha val="0"/>
              </a:srgbClr>
            </a:solidFill>
            <a:prstDash val="solid"/>
          </a:ln>
        </p:spPr>
      </p:sp>
      <p:sp>
        <p:nvSpPr>
          <p:cNvPr id="30" name="Text 28"/>
          <p:cNvSpPr/>
          <p:nvPr/>
        </p:nvSpPr>
        <p:spPr>
          <a:xfrm>
            <a:off x="6748272" y="4507992"/>
            <a:ext cx="2194560" cy="329184"/>
          </a:xfrm>
          <a:prstGeom prst="rect">
            <a:avLst/>
          </a:prstGeom>
          <a:noFill/>
          <a:ln/>
        </p:spPr>
        <p:txBody>
          <a:bodyPr wrap="square" lIns="0" tIns="0" rIns="0" bIns="0" rtlCol="0" anchor="ctr">
            <a:normAutofit/>
          </a:bodyPr>
          <a:lstStyle/>
          <a:p>
            <a:pPr algn="ctr" indent="0" marL="0">
              <a:buNone/>
            </a:pPr>
            <a:r>
              <a:rPr lang="en-US" sz="1300" b="1" dirty="0">
                <a:solidFill>
                  <a:srgbClr val="77D9AD"/>
                </a:solidFill>
                <a:latin typeface="Noto Sans CJK KR" pitchFamily="34" charset="0"/>
                <a:ea typeface="Noto Sans CJK KR" pitchFamily="34" charset="-122"/>
                <a:cs typeface="Noto Sans CJK KR" pitchFamily="34" charset="-120"/>
              </a:rPr>
              <a:t>TOP 3 + 근거</a:t>
            </a:r>
            <a:endParaRPr lang="en-US" sz="1300" dirty="0"/>
          </a:p>
        </p:txBody>
      </p:sp>
      <p:sp>
        <p:nvSpPr>
          <p:cNvPr id="31" name="Text 29"/>
          <p:cNvSpPr/>
          <p:nvPr/>
        </p:nvSpPr>
        <p:spPr>
          <a:xfrm>
            <a:off x="9144000" y="4507992"/>
            <a:ext cx="402336" cy="338328"/>
          </a:xfrm>
          <a:prstGeom prst="rect">
            <a:avLst/>
          </a:prstGeom>
          <a:noFill/>
          <a:ln/>
        </p:spPr>
        <p:txBody>
          <a:bodyPr wrap="square" lIns="0" tIns="0" rIns="0" bIns="0" rtlCol="0" anchor="ctr">
            <a:normAutofit/>
          </a:bodyPr>
          <a:lstStyle/>
          <a:p>
            <a:pPr algn="ctr" indent="0" marL="0">
              <a:buNone/>
            </a:pPr>
            <a:r>
              <a:rPr lang="en-US" sz="2600" b="1" dirty="0">
                <a:solidFill>
                  <a:srgbClr val="D9BA78"/>
                </a:solidFill>
                <a:latin typeface="Noto Sans CJK KR" pitchFamily="34" charset="0"/>
                <a:ea typeface="Noto Sans CJK KR" pitchFamily="34" charset="-122"/>
                <a:cs typeface="Noto Sans CJK KR" pitchFamily="34" charset="-120"/>
              </a:rPr>
              <a:t>→</a:t>
            </a:r>
            <a:endParaRPr lang="en-US" sz="2600" dirty="0"/>
          </a:p>
        </p:txBody>
      </p:sp>
      <p:sp>
        <p:nvSpPr>
          <p:cNvPr id="32" name="Text 30"/>
          <p:cNvSpPr/>
          <p:nvPr/>
        </p:nvSpPr>
        <p:spPr>
          <a:xfrm>
            <a:off x="9619488" y="4517136"/>
            <a:ext cx="1600200" cy="347472"/>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Noto Sans CJK KR" pitchFamily="34" charset="0"/>
                <a:ea typeface="Noto Sans CJK KR" pitchFamily="34" charset="-122"/>
                <a:cs typeface="Noto Sans CJK KR" pitchFamily="34" charset="-120"/>
              </a:rPr>
              <a:t>설명 가능한 픽</a:t>
            </a:r>
            <a:endParaRPr lang="en-US" sz="1200" dirty="0"/>
          </a:p>
        </p:txBody>
      </p:sp>
      <p:sp>
        <p:nvSpPr>
          <p:cNvPr id="33" name="Text 31"/>
          <p:cNvSpPr/>
          <p:nvPr/>
        </p:nvSpPr>
        <p:spPr>
          <a:xfrm>
            <a:off x="731520" y="5907024"/>
            <a:ext cx="10789920" cy="301752"/>
          </a:xfrm>
          <a:prstGeom prst="rect">
            <a:avLst/>
          </a:prstGeom>
          <a:noFill/>
          <a:ln/>
        </p:spPr>
        <p:txBody>
          <a:bodyPr wrap="square" lIns="0" tIns="0" rIns="0" bIns="0" rtlCol="0" anchor="ctr">
            <a:normAutofit/>
          </a:bodyPr>
          <a:lstStyle/>
          <a:p>
            <a:pPr algn="l" indent="0" marL="0">
              <a:buNone/>
            </a:pPr>
            <a:r>
              <a:rPr lang="en-US" sz="1200" dirty="0">
                <a:solidFill>
                  <a:srgbClr val="AFC3D1"/>
                </a:solidFill>
                <a:latin typeface="Noto Sans CJK KR" pitchFamily="34" charset="0"/>
                <a:ea typeface="Noto Sans CJK KR" pitchFamily="34" charset="-122"/>
                <a:cs typeface="Noto Sans CJK KR" pitchFamily="34" charset="-120"/>
              </a:rPr>
              <a:t>목표: 실시간 승률 예측이 아니라, 입력된 조합을 일관된 규칙으로 분석하고 근거를 제시</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gd name="adj" fmla="val 189474"/>
            </a:avLst>
          </a:prstGeom>
          <a:solidFill>
            <a:srgbClr val="D9BA78"/>
          </a:solidFill>
          <a:ln w="12700">
            <a:solidFill>
              <a:srgbClr val="D9BA78">
                <a:alpha val="0"/>
              </a:srgbClr>
            </a:solidFill>
            <a:prstDash val="solid"/>
          </a:ln>
        </p:spPr>
      </p:sp>
      <p:sp>
        <p:nvSpPr>
          <p:cNvPr id="3" name="Shape 1"/>
          <p:cNvSpPr/>
          <p:nvPr/>
        </p:nvSpPr>
        <p:spPr>
          <a:xfrm>
            <a:off x="10378440" y="164592"/>
            <a:ext cx="1444752" cy="1444752"/>
          </a:xfrm>
          <a:prstGeom prst="ellipse">
            <a:avLst/>
          </a:prstGeom>
          <a:solidFill>
            <a:srgbClr val="0D1F2D"/>
          </a:solidFill>
          <a:ln w="12700">
            <a:solidFill>
              <a:srgbClr val="0D1F2D">
                <a:alpha val="0"/>
              </a:srgbClr>
            </a:solidFill>
            <a:prstDash val="solid"/>
          </a:ln>
        </p:spPr>
      </p:sp>
      <p:sp>
        <p:nvSpPr>
          <p:cNvPr id="4" name="Text 2"/>
          <p:cNvSpPr/>
          <p:nvPr/>
        </p:nvSpPr>
        <p:spPr>
          <a:xfrm>
            <a:off x="603504" y="347472"/>
            <a:ext cx="7315200" cy="274320"/>
          </a:xfrm>
          <a:prstGeom prst="rect">
            <a:avLst/>
          </a:prstGeom>
          <a:noFill/>
          <a:ln/>
        </p:spPr>
        <p:txBody>
          <a:bodyPr wrap="square" lIns="0" tIns="0" rIns="0" bIns="0" rtlCol="0" anchor="ctr">
            <a:normAutofit/>
          </a:bodyPr>
          <a:lstStyle/>
          <a:p>
            <a:pPr algn="l" indent="0" marL="0">
              <a:buNone/>
            </a:pPr>
            <a:r>
              <a:rPr lang="en-US" sz="1000" b="1" spc="180" kern="0" dirty="0">
                <a:solidFill>
                  <a:srgbClr val="D9BA78"/>
                </a:solidFill>
                <a:latin typeface="Noto Sans CJK KR" pitchFamily="34" charset="0"/>
                <a:ea typeface="Noto Sans CJK KR" pitchFamily="34" charset="-122"/>
                <a:cs typeface="Noto Sans CJK KR" pitchFamily="34" charset="-120"/>
              </a:rPr>
              <a:t>02 / DEMO</a:t>
            </a:r>
            <a:endParaRPr lang="en-US" sz="1000" dirty="0"/>
          </a:p>
        </p:txBody>
      </p:sp>
      <p:sp>
        <p:nvSpPr>
          <p:cNvPr id="5" name="Text 3"/>
          <p:cNvSpPr/>
          <p:nvPr/>
        </p:nvSpPr>
        <p:spPr>
          <a:xfrm>
            <a:off x="603504" y="749808"/>
            <a:ext cx="10927080" cy="640080"/>
          </a:xfrm>
          <a:prstGeom prst="rect">
            <a:avLst/>
          </a:prstGeom>
          <a:noFill/>
          <a:ln/>
        </p:spPr>
        <p:txBody>
          <a:bodyPr wrap="square" lIns="0" tIns="0" rIns="0" bIns="0" rtlCol="0" anchor="ctr">
            <a:normAutofit/>
          </a:bodyPr>
          <a:lstStyle/>
          <a:p>
            <a:pPr algn="l" indent="0" marL="0">
              <a:buNone/>
            </a:pPr>
            <a:r>
              <a:rPr lang="en-US" sz="2800" b="1" dirty="0">
                <a:solidFill>
                  <a:srgbClr val="F5F7FA"/>
                </a:solidFill>
                <a:latin typeface="Noto Sans CJK KR" pitchFamily="34" charset="0"/>
                <a:ea typeface="Noto Sans CJK KR" pitchFamily="34" charset="-122"/>
                <a:cs typeface="Noto Sans CJK KR" pitchFamily="34" charset="-120"/>
              </a:rPr>
              <a:t>실제로 구현한 밴픽 웹서비스</a:t>
            </a:r>
            <a:endParaRPr lang="en-US" sz="2800" dirty="0"/>
          </a:p>
        </p:txBody>
      </p:sp>
      <p:sp>
        <p:nvSpPr>
          <p:cNvPr id="6" name="Shape 4"/>
          <p:cNvSpPr/>
          <p:nvPr/>
        </p:nvSpPr>
        <p:spPr>
          <a:xfrm>
            <a:off x="603504" y="1499616"/>
            <a:ext cx="10991088" cy="0"/>
          </a:xfrm>
          <a:prstGeom prst="line">
            <a:avLst>
              <a:gd name="adj" fmla="val Infinity"/>
            </a:avLst>
          </a:prstGeom>
          <a:solidFill>
            <a:srgbClr val="2B4555"/>
          </a:solidFill>
          <a:ln w="10160">
            <a:solidFill>
              <a:srgbClr val="2B4555"/>
            </a:solidFill>
            <a:prstDash val="solid"/>
          </a:ln>
        </p:spPr>
      </p:sp>
      <p:sp>
        <p:nvSpPr>
          <p:cNvPr id="7" name="Text 5"/>
          <p:cNvSpPr/>
          <p:nvPr/>
        </p:nvSpPr>
        <p:spPr>
          <a:xfrm>
            <a:off x="612648" y="6519672"/>
            <a:ext cx="5486400" cy="173736"/>
          </a:xfrm>
          <a:prstGeom prst="rect">
            <a:avLst/>
          </a:prstGeom>
          <a:noFill/>
          <a:ln/>
        </p:spPr>
        <p:txBody>
          <a:bodyPr wrap="square" lIns="0" tIns="0" rIns="0" bIns="0" rtlCol="0" anchor="ctr">
            <a:normAutofit/>
          </a:bodyPr>
          <a:lstStyle/>
          <a:p>
            <a:pPr algn="l" indent="0" marL="0">
              <a:buNone/>
            </a:pPr>
            <a:r>
              <a:rPr lang="en-US" sz="800" dirty="0">
                <a:solidFill>
                  <a:srgbClr val="AFC3D1"/>
                </a:solidFill>
                <a:latin typeface="Noto Sans CJK KR" pitchFamily="34" charset="0"/>
                <a:ea typeface="Noto Sans CJK KR" pitchFamily="34" charset="-122"/>
                <a:cs typeface="Noto Sans CJK KR" pitchFamily="34" charset="-120"/>
              </a:rPr>
              <a:t>DRAFTWISE AI  /  SKALA MINI-PROJECT</a:t>
            </a:r>
            <a:endParaRPr lang="en-US" sz="800" dirty="0"/>
          </a:p>
        </p:txBody>
      </p:sp>
      <p:sp>
        <p:nvSpPr>
          <p:cNvPr id="8" name="Text 6"/>
          <p:cNvSpPr/>
          <p:nvPr/>
        </p:nvSpPr>
        <p:spPr>
          <a:xfrm>
            <a:off x="10972800" y="6501384"/>
            <a:ext cx="585216" cy="201168"/>
          </a:xfrm>
          <a:prstGeom prst="rect">
            <a:avLst/>
          </a:prstGeom>
          <a:noFill/>
          <a:ln/>
        </p:spPr>
        <p:txBody>
          <a:bodyPr wrap="square" lIns="0" tIns="0" rIns="0" bIns="0" rtlCol="0" anchor="ctr">
            <a:normAutofit/>
          </a:bodyPr>
          <a:lstStyle/>
          <a:p>
            <a:pPr algn="r" indent="0" marL="0">
              <a:buNone/>
            </a:pPr>
            <a:r>
              <a:rPr lang="en-US" sz="900" dirty="0">
                <a:solidFill>
                  <a:srgbClr val="D9BA78"/>
                </a:solidFill>
                <a:latin typeface="Noto Sans CJK KR" pitchFamily="34" charset="0"/>
                <a:ea typeface="Noto Sans CJK KR" pitchFamily="34" charset="-122"/>
                <a:cs typeface="Noto Sans CJK KR" pitchFamily="34" charset="-120"/>
              </a:rPr>
              <a:t>03 / 08</a:t>
            </a:r>
            <a:endParaRPr lang="en-US" sz="900" dirty="0"/>
          </a:p>
        </p:txBody>
      </p:sp>
      <p:sp>
        <p:nvSpPr>
          <p:cNvPr id="9" name="TextBox 8"/>
          <p:cNvSpPr txBox="1"/>
          <p:nvPr/>
        </p:nvSpPr>
        <p:spPr>
          <a:xfrm>
            <a:off x="658368" y="1618488"/>
            <a:ext cx="10881360" cy="246888"/>
          </a:xfrm>
          <a:prstGeom prst="rect">
            <a:avLst/>
          </a:prstGeom>
          <a:noFill/>
        </p:spPr>
        <p:txBody>
          <a:bodyPr wrap="square" lIns="0" rIns="0" tIns="0" bIns="0" anchor="ctr">
            <a:noAutofit/>
          </a:bodyPr>
          <a:lstStyle/>
          <a:p>
            <a:pPr>
              <a:spcBef>
                <a:spcPts val="0"/>
              </a:spcBef>
              <a:spcAft>
                <a:spcPts val="0"/>
              </a:spcAft>
            </a:pPr>
            <a:r>
              <a:rPr sz="1200" b="0">
                <a:solidFill>
                  <a:srgbClr val="AFC3D1"/>
                </a:solidFill>
                <a:latin typeface="Noto Sans CJK KR"/>
              </a:rPr>
              <a:t>실제 Chrome 실행 화면 · 양 팀 픽·밴과 포지션별 주력 관리</a:t>
            </a:r>
          </a:p>
        </p:txBody>
      </p:sp>
      <p:sp>
        <p:nvSpPr>
          <p:cNvPr id="10" name="TextBox 9"/>
          <p:cNvSpPr txBox="1"/>
          <p:nvPr/>
        </p:nvSpPr>
        <p:spPr>
          <a:xfrm>
            <a:off x="658368" y="1938528"/>
            <a:ext cx="6510528" cy="256032"/>
          </a:xfrm>
          <a:prstGeom prst="rect">
            <a:avLst/>
          </a:prstGeom>
          <a:noFill/>
        </p:spPr>
        <p:txBody>
          <a:bodyPr wrap="square" lIns="0" rIns="0" tIns="0" bIns="0" anchor="ctr">
            <a:noAutofit/>
          </a:bodyPr>
          <a:lstStyle/>
          <a:p>
            <a:pPr>
              <a:spcBef>
                <a:spcPts val="0"/>
              </a:spcBef>
              <a:spcAft>
                <a:spcPts val="0"/>
              </a:spcAft>
            </a:pPr>
            <a:r>
              <a:rPr sz="1400" b="1">
                <a:solidFill>
                  <a:srgbClr val="D9BA78"/>
                </a:solidFill>
                <a:latin typeface="Noto Sans CJK KR"/>
              </a:rPr>
              <a:t>01  밴픽 입력과 챔피언 선택</a:t>
            </a:r>
          </a:p>
        </p:txBody>
      </p:sp>
      <p:pic>
        <p:nvPicPr>
          <p:cNvPr id="11" name="Picture 10" descr="실제 Chrome 실행 캡처: 01-draft-desktop.png; 원본 비율 유지, 영역 확대"/>
          <p:cNvPicPr>
            <a:picLocks noChangeAspect="1"/>
          </p:cNvPicPr>
          <p:nvPr/>
        </p:nvPicPr>
        <p:blipFill>
          <a:blip r:embed="rId6"/>
          <a:srcRect l="2917" t="14512" r="2917" b="24934"/>
          <a:stretch>
            <a:fillRect/>
          </a:stretch>
        </p:blipFill>
        <p:spPr>
          <a:xfrm>
            <a:off x="658368" y="2286000"/>
            <a:ext cx="6016752" cy="4073287"/>
          </a:xfrm>
          <a:prstGeom prst="rect">
            <a:avLst/>
          </a:prstGeom>
          <a:ln w="8890">
            <a:solidFill>
              <a:srgbClr val="3A4D59"/>
            </a:solidFill>
          </a:ln>
        </p:spPr>
      </p:pic>
      <p:sp>
        <p:nvSpPr>
          <p:cNvPr id="12" name="TextBox 11"/>
          <p:cNvSpPr txBox="1"/>
          <p:nvPr/>
        </p:nvSpPr>
        <p:spPr>
          <a:xfrm>
            <a:off x="6967728" y="1938528"/>
            <a:ext cx="4572000" cy="256032"/>
          </a:xfrm>
          <a:prstGeom prst="rect">
            <a:avLst/>
          </a:prstGeom>
          <a:noFill/>
        </p:spPr>
        <p:txBody>
          <a:bodyPr wrap="square" lIns="0" rIns="0" tIns="0" bIns="0" anchor="ctr">
            <a:noAutofit/>
          </a:bodyPr>
          <a:lstStyle/>
          <a:p>
            <a:pPr>
              <a:spcBef>
                <a:spcPts val="0"/>
              </a:spcBef>
              <a:spcAft>
                <a:spcPts val="0"/>
              </a:spcAft>
            </a:pPr>
            <a:r>
              <a:rPr sz="1400" b="1">
                <a:solidFill>
                  <a:srgbClr val="D9BA78"/>
                </a:solidFill>
                <a:latin typeface="Noto Sans CJK KR"/>
              </a:rPr>
              <a:t>02  포지션별 주력 저장</a:t>
            </a:r>
          </a:p>
        </p:txBody>
      </p:sp>
      <p:pic>
        <p:nvPicPr>
          <p:cNvPr id="13" name="Picture 12" descr="실제 Chrome 실행 캡처: 02-role-and-pool.png; 원본 비율 유지, 영역 확대"/>
          <p:cNvPicPr>
            <a:picLocks noChangeAspect="1"/>
          </p:cNvPicPr>
          <p:nvPr/>
        </p:nvPicPr>
        <p:blipFill>
          <a:blip r:embed="rId7"/>
          <a:srcRect l="25486" t="20935" r="25486" b="32586"/>
          <a:stretch>
            <a:fillRect/>
          </a:stretch>
        </p:blipFill>
        <p:spPr>
          <a:xfrm>
            <a:off x="6967728" y="2286000"/>
            <a:ext cx="3730752" cy="3836439"/>
          </a:xfrm>
          <a:prstGeom prst="rect">
            <a:avLst/>
          </a:prstGeom>
          <a:ln w="8890">
            <a:solidFill>
              <a:srgbClr val="3A4D59"/>
            </a:solidFill>
          </a:ln>
        </p:spPr>
      </p:pic>
      <p:sp>
        <p:nvSpPr>
          <p:cNvPr id="14" name="TextBox 13"/>
          <p:cNvSpPr txBox="1"/>
          <p:nvPr/>
        </p:nvSpPr>
        <p:spPr>
          <a:xfrm>
            <a:off x="6967728" y="6199632"/>
            <a:ext cx="4572000" cy="201168"/>
          </a:xfrm>
          <a:prstGeom prst="rect">
            <a:avLst/>
          </a:prstGeom>
          <a:noFill/>
        </p:spPr>
        <p:txBody>
          <a:bodyPr wrap="square" lIns="0" rIns="0" tIns="0" bIns="0" anchor="ctr">
            <a:noAutofit/>
          </a:bodyPr>
          <a:lstStyle/>
          <a:p>
            <a:pPr>
              <a:spcBef>
                <a:spcPts val="0"/>
              </a:spcBef>
              <a:spcAft>
                <a:spcPts val="0"/>
              </a:spcAft>
            </a:pPr>
            <a:r>
              <a:rPr sz="1050" b="0">
                <a:solidFill>
                  <a:srgbClr val="AFC3D1"/>
                </a:solidFill>
                <a:latin typeface="Noto Sans CJK KR"/>
              </a:rPr>
              <a:t>미드 주력 아리 등록 · 새로고침 후에도 유지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gd name="adj" fmla="val 189474"/>
            </a:avLst>
          </a:prstGeom>
          <a:solidFill>
            <a:srgbClr val="D9BA78"/>
          </a:solidFill>
          <a:ln w="12700">
            <a:solidFill>
              <a:srgbClr val="D9BA78">
                <a:alpha val="0"/>
              </a:srgbClr>
            </a:solidFill>
            <a:prstDash val="solid"/>
          </a:ln>
        </p:spPr>
      </p:sp>
      <p:sp>
        <p:nvSpPr>
          <p:cNvPr id="3" name="Shape 1"/>
          <p:cNvSpPr/>
          <p:nvPr/>
        </p:nvSpPr>
        <p:spPr>
          <a:xfrm>
            <a:off x="10378440" y="164592"/>
            <a:ext cx="1444752" cy="1444752"/>
          </a:xfrm>
          <a:prstGeom prst="ellipse">
            <a:avLst/>
          </a:prstGeom>
          <a:solidFill>
            <a:srgbClr val="0D1F2D"/>
          </a:solidFill>
          <a:ln w="12700">
            <a:solidFill>
              <a:srgbClr val="0D1F2D">
                <a:alpha val="0"/>
              </a:srgbClr>
            </a:solidFill>
            <a:prstDash val="solid"/>
          </a:ln>
        </p:spPr>
      </p:sp>
      <p:sp>
        <p:nvSpPr>
          <p:cNvPr id="4" name="Text 2"/>
          <p:cNvSpPr/>
          <p:nvPr/>
        </p:nvSpPr>
        <p:spPr>
          <a:xfrm>
            <a:off x="603504" y="347472"/>
            <a:ext cx="7315200" cy="274320"/>
          </a:xfrm>
          <a:prstGeom prst="rect">
            <a:avLst/>
          </a:prstGeom>
          <a:noFill/>
          <a:ln/>
        </p:spPr>
        <p:txBody>
          <a:bodyPr wrap="square" lIns="0" tIns="0" rIns="0" bIns="0" rtlCol="0" anchor="ctr">
            <a:normAutofit/>
          </a:bodyPr>
          <a:lstStyle/>
          <a:p>
            <a:pPr algn="l" indent="0" marL="0">
              <a:buNone/>
            </a:pPr>
            <a:r>
              <a:rPr lang="en-US" sz="1000" b="1" spc="180" kern="0" dirty="0">
                <a:solidFill>
                  <a:srgbClr val="D9BA78"/>
                </a:solidFill>
                <a:latin typeface="Noto Sans CJK KR" pitchFamily="34" charset="0"/>
                <a:ea typeface="Noto Sans CJK KR" pitchFamily="34" charset="-122"/>
                <a:cs typeface="Noto Sans CJK KR" pitchFamily="34" charset="-120"/>
              </a:rPr>
              <a:t>03 / TECHNICAL DESIGN</a:t>
            </a:r>
            <a:endParaRPr lang="en-US" sz="1000" dirty="0"/>
          </a:p>
        </p:txBody>
      </p:sp>
      <p:sp>
        <p:nvSpPr>
          <p:cNvPr id="5" name="Text 3"/>
          <p:cNvSpPr/>
          <p:nvPr/>
        </p:nvSpPr>
        <p:spPr>
          <a:xfrm>
            <a:off x="603504" y="749808"/>
            <a:ext cx="10927080" cy="640080"/>
          </a:xfrm>
          <a:prstGeom prst="rect">
            <a:avLst/>
          </a:prstGeom>
          <a:noFill/>
          <a:ln/>
        </p:spPr>
        <p:txBody>
          <a:bodyPr wrap="square" lIns="0" tIns="0" rIns="0" bIns="0" rtlCol="0" anchor="ctr">
            <a:normAutofit/>
          </a:bodyPr>
          <a:lstStyle/>
          <a:p>
            <a:pPr algn="l" indent="0" marL="0">
              <a:buNone/>
            </a:pPr>
            <a:r>
              <a:rPr lang="en-US" sz="2800" b="1" dirty="0">
                <a:solidFill>
                  <a:srgbClr val="F5F7FA"/>
                </a:solidFill>
                <a:latin typeface="Noto Sans CJK KR" pitchFamily="34" charset="0"/>
                <a:ea typeface="Noto Sans CJK KR" pitchFamily="34" charset="-122"/>
                <a:cs typeface="Noto Sans CJK KR" pitchFamily="34" charset="-120"/>
              </a:rPr>
              <a:t>LLM에 순위를 맡기지 않는 설명 가능한 구조</a:t>
            </a:r>
            <a:endParaRPr lang="en-US" sz="2800" dirty="0"/>
          </a:p>
        </p:txBody>
      </p:sp>
      <p:sp>
        <p:nvSpPr>
          <p:cNvPr id="6" name="Shape 4"/>
          <p:cNvSpPr/>
          <p:nvPr/>
        </p:nvSpPr>
        <p:spPr>
          <a:xfrm>
            <a:off x="603504" y="1499616"/>
            <a:ext cx="10991088" cy="0"/>
          </a:xfrm>
          <a:prstGeom prst="line">
            <a:avLst>
              <a:gd name="adj" fmla="val Infinity"/>
            </a:avLst>
          </a:prstGeom>
          <a:solidFill>
            <a:srgbClr val="2B4555"/>
          </a:solidFill>
          <a:ln w="10160">
            <a:solidFill>
              <a:srgbClr val="2B4555"/>
            </a:solidFill>
            <a:prstDash val="solid"/>
          </a:ln>
        </p:spPr>
      </p:sp>
      <p:sp>
        <p:nvSpPr>
          <p:cNvPr id="7" name="Text 5"/>
          <p:cNvSpPr/>
          <p:nvPr/>
        </p:nvSpPr>
        <p:spPr>
          <a:xfrm>
            <a:off x="612648" y="6519672"/>
            <a:ext cx="5486400" cy="173736"/>
          </a:xfrm>
          <a:prstGeom prst="rect">
            <a:avLst/>
          </a:prstGeom>
          <a:noFill/>
          <a:ln/>
        </p:spPr>
        <p:txBody>
          <a:bodyPr wrap="square" lIns="0" tIns="0" rIns="0" bIns="0" rtlCol="0" anchor="ctr">
            <a:normAutofit/>
          </a:bodyPr>
          <a:lstStyle/>
          <a:p>
            <a:pPr algn="l" indent="0" marL="0">
              <a:buNone/>
            </a:pPr>
            <a:r>
              <a:rPr lang="en-US" sz="800" dirty="0">
                <a:solidFill>
                  <a:srgbClr val="AFC3D1"/>
                </a:solidFill>
                <a:latin typeface="Noto Sans CJK KR" pitchFamily="34" charset="0"/>
                <a:ea typeface="Noto Sans CJK KR" pitchFamily="34" charset="-122"/>
                <a:cs typeface="Noto Sans CJK KR" pitchFamily="34" charset="-120"/>
              </a:rPr>
              <a:t>DRAFTWISE AI  /  SKALA MINI-PROJECT</a:t>
            </a:r>
            <a:endParaRPr lang="en-US" sz="800" dirty="0"/>
          </a:p>
        </p:txBody>
      </p:sp>
      <p:sp>
        <p:nvSpPr>
          <p:cNvPr id="8" name="Text 6"/>
          <p:cNvSpPr/>
          <p:nvPr/>
        </p:nvSpPr>
        <p:spPr>
          <a:xfrm>
            <a:off x="10972800" y="6501384"/>
            <a:ext cx="585216" cy="201168"/>
          </a:xfrm>
          <a:prstGeom prst="rect">
            <a:avLst/>
          </a:prstGeom>
          <a:noFill/>
          <a:ln/>
        </p:spPr>
        <p:txBody>
          <a:bodyPr wrap="square" lIns="0" tIns="0" rIns="0" bIns="0" rtlCol="0" anchor="ctr">
            <a:normAutofit/>
          </a:bodyPr>
          <a:lstStyle/>
          <a:p>
            <a:pPr algn="r" indent="0" marL="0">
              <a:buNone/>
            </a:pPr>
            <a:r>
              <a:rPr lang="en-US" sz="900" dirty="0">
                <a:solidFill>
                  <a:srgbClr val="D9BA78"/>
                </a:solidFill>
                <a:latin typeface="Noto Sans CJK KR" pitchFamily="34" charset="0"/>
                <a:ea typeface="Noto Sans CJK KR" pitchFamily="34" charset="-122"/>
                <a:cs typeface="Noto Sans CJK KR" pitchFamily="34" charset="-120"/>
              </a:rPr>
              <a:t>04 / 08</a:t>
            </a:r>
            <a:endParaRPr lang="en-US" sz="900" dirty="0"/>
          </a:p>
        </p:txBody>
      </p:sp>
      <p:sp>
        <p:nvSpPr>
          <p:cNvPr id="9" name="Shape 7"/>
          <p:cNvSpPr/>
          <p:nvPr/>
        </p:nvSpPr>
        <p:spPr>
          <a:xfrm>
            <a:off x="658368" y="1929384"/>
            <a:ext cx="2176272" cy="1252728"/>
          </a:xfrm>
          <a:prstGeom prst="roundRect">
            <a:avLst>
              <a:gd name="adj" fmla="val 13139"/>
            </a:avLst>
          </a:prstGeom>
          <a:solidFill>
            <a:srgbClr val="122637"/>
          </a:solidFill>
          <a:ln w="12700">
            <a:solidFill>
              <a:srgbClr val="122637">
                <a:alpha val="0"/>
              </a:srgbClr>
            </a:solidFill>
            <a:prstDash val="solid"/>
          </a:ln>
        </p:spPr>
      </p:sp>
      <p:sp>
        <p:nvSpPr>
          <p:cNvPr id="10" name="Text 8"/>
          <p:cNvSpPr/>
          <p:nvPr/>
        </p:nvSpPr>
        <p:spPr>
          <a:xfrm>
            <a:off x="749808" y="2176272"/>
            <a:ext cx="1993392" cy="292608"/>
          </a:xfrm>
          <a:prstGeom prst="rect">
            <a:avLst/>
          </a:prstGeom>
          <a:noFill/>
          <a:ln/>
        </p:spPr>
        <p:txBody>
          <a:bodyPr wrap="square" lIns="0" tIns="0" rIns="0" bIns="0" rtlCol="0" anchor="ctr">
            <a:normAutofit/>
          </a:bodyPr>
          <a:lstStyle/>
          <a:p>
            <a:pPr algn="ctr" indent="0" marL="0">
              <a:buNone/>
            </a:pPr>
            <a:r>
              <a:rPr lang="en-US" sz="1800" b="1" dirty="0">
                <a:solidFill>
                  <a:srgbClr val="5FAEE9"/>
                </a:solidFill>
                <a:latin typeface="Noto Sans CJK KR" pitchFamily="34" charset="0"/>
                <a:ea typeface="Noto Sans CJK KR" pitchFamily="34" charset="-122"/>
                <a:cs typeface="Noto Sans CJK KR" pitchFamily="34" charset="-120"/>
              </a:rPr>
              <a:t>Vue 3</a:t>
            </a:r>
            <a:endParaRPr lang="en-US" sz="1800" dirty="0"/>
          </a:p>
        </p:txBody>
      </p:sp>
      <p:sp>
        <p:nvSpPr>
          <p:cNvPr id="11" name="Text 9"/>
          <p:cNvSpPr/>
          <p:nvPr/>
        </p:nvSpPr>
        <p:spPr>
          <a:xfrm>
            <a:off x="749808" y="2633472"/>
            <a:ext cx="1993392" cy="265176"/>
          </a:xfrm>
          <a:prstGeom prst="rect">
            <a:avLst/>
          </a:prstGeom>
          <a:noFill/>
          <a:ln/>
        </p:spPr>
        <p:txBody>
          <a:bodyPr wrap="square" lIns="0" tIns="0" rIns="0" bIns="0" rtlCol="0" anchor="ctr">
            <a:normAutofit/>
          </a:bodyPr>
          <a:lstStyle/>
          <a:p>
            <a:pPr algn="ctr" indent="0" marL="0">
              <a:buNone/>
            </a:pPr>
            <a:r>
              <a:rPr lang="en-US" sz="1000" dirty="0">
                <a:solidFill>
                  <a:srgbClr val="AFC3D1"/>
                </a:solidFill>
                <a:latin typeface="Noto Sans CJK KR" pitchFamily="34" charset="0"/>
                <a:ea typeface="Noto Sans CJK KR" pitchFamily="34" charset="-122"/>
                <a:cs typeface="Noto Sans CJK KR" pitchFamily="34" charset="-120"/>
              </a:rPr>
              <a:t>픽·밴 / 숙련도 입력</a:t>
            </a:r>
            <a:endParaRPr lang="en-US" sz="1000" dirty="0"/>
          </a:p>
        </p:txBody>
      </p:sp>
      <p:sp>
        <p:nvSpPr>
          <p:cNvPr id="12" name="Text 10"/>
          <p:cNvSpPr/>
          <p:nvPr/>
        </p:nvSpPr>
        <p:spPr>
          <a:xfrm>
            <a:off x="2852928" y="2423160"/>
            <a:ext cx="292608" cy="338328"/>
          </a:xfrm>
          <a:prstGeom prst="rect">
            <a:avLst/>
          </a:prstGeom>
          <a:noFill/>
          <a:ln/>
        </p:spPr>
        <p:txBody>
          <a:bodyPr wrap="square" lIns="0" tIns="0" rIns="0" bIns="0" rtlCol="0" anchor="ctr">
            <a:normAutofit/>
          </a:bodyPr>
          <a:lstStyle/>
          <a:p>
            <a:pPr algn="ctr" indent="0" marL="0">
              <a:buNone/>
            </a:pPr>
            <a:r>
              <a:rPr lang="en-US" sz="2600" b="1" dirty="0">
                <a:solidFill>
                  <a:srgbClr val="D9BA78"/>
                </a:solidFill>
                <a:latin typeface="Noto Sans CJK KR" pitchFamily="34" charset="0"/>
                <a:ea typeface="Noto Sans CJK KR" pitchFamily="34" charset="-122"/>
                <a:cs typeface="Noto Sans CJK KR" pitchFamily="34" charset="-120"/>
              </a:rPr>
              <a:t>→</a:t>
            </a:r>
            <a:endParaRPr lang="en-US" sz="2600" dirty="0"/>
          </a:p>
        </p:txBody>
      </p:sp>
      <p:sp>
        <p:nvSpPr>
          <p:cNvPr id="13" name="Shape 11"/>
          <p:cNvSpPr/>
          <p:nvPr/>
        </p:nvSpPr>
        <p:spPr>
          <a:xfrm>
            <a:off x="2971800" y="1929384"/>
            <a:ext cx="2011680" cy="1252728"/>
          </a:xfrm>
          <a:prstGeom prst="roundRect">
            <a:avLst>
              <a:gd name="adj" fmla="val 13139"/>
            </a:avLst>
          </a:prstGeom>
          <a:solidFill>
            <a:srgbClr val="122637"/>
          </a:solidFill>
          <a:ln w="12700">
            <a:solidFill>
              <a:srgbClr val="122637">
                <a:alpha val="0"/>
              </a:srgbClr>
            </a:solidFill>
            <a:prstDash val="solid"/>
          </a:ln>
        </p:spPr>
      </p:sp>
      <p:sp>
        <p:nvSpPr>
          <p:cNvPr id="14" name="Text 12"/>
          <p:cNvSpPr/>
          <p:nvPr/>
        </p:nvSpPr>
        <p:spPr>
          <a:xfrm>
            <a:off x="3063240" y="2176272"/>
            <a:ext cx="1828800" cy="292608"/>
          </a:xfrm>
          <a:prstGeom prst="rect">
            <a:avLst/>
          </a:prstGeom>
          <a:noFill/>
          <a:ln/>
        </p:spPr>
        <p:txBody>
          <a:bodyPr wrap="square" lIns="0" tIns="0" rIns="0" bIns="0" rtlCol="0" anchor="ctr">
            <a:normAutofit/>
          </a:bodyPr>
          <a:lstStyle/>
          <a:p>
            <a:pPr algn="ctr" indent="0" marL="0">
              <a:buNone/>
            </a:pPr>
            <a:r>
              <a:rPr lang="en-US" sz="1800" b="1" dirty="0">
                <a:solidFill>
                  <a:srgbClr val="D9BA78"/>
                </a:solidFill>
                <a:latin typeface="Noto Sans CJK KR" pitchFamily="34" charset="0"/>
                <a:ea typeface="Noto Sans CJK KR" pitchFamily="34" charset="-122"/>
                <a:cs typeface="Noto Sans CJK KR" pitchFamily="34" charset="-120"/>
              </a:rPr>
              <a:t>FastAPI</a:t>
            </a:r>
            <a:endParaRPr lang="en-US" sz="1800" dirty="0"/>
          </a:p>
        </p:txBody>
      </p:sp>
      <p:sp>
        <p:nvSpPr>
          <p:cNvPr id="15" name="Text 13"/>
          <p:cNvSpPr/>
          <p:nvPr/>
        </p:nvSpPr>
        <p:spPr>
          <a:xfrm>
            <a:off x="3063240" y="2633472"/>
            <a:ext cx="1828800" cy="265176"/>
          </a:xfrm>
          <a:prstGeom prst="rect">
            <a:avLst/>
          </a:prstGeom>
          <a:noFill/>
          <a:ln/>
        </p:spPr>
        <p:txBody>
          <a:bodyPr wrap="square" lIns="0" tIns="0" rIns="0" bIns="0" rtlCol="0" anchor="ctr">
            <a:normAutofit/>
          </a:bodyPr>
          <a:lstStyle/>
          <a:p>
            <a:pPr algn="ctr" indent="0" marL="0">
              <a:buNone/>
            </a:pPr>
            <a:r>
              <a:rPr lang="en-US" sz="1000" dirty="0">
                <a:solidFill>
                  <a:srgbClr val="AFC3D1"/>
                </a:solidFill>
                <a:latin typeface="Noto Sans CJK KR" pitchFamily="34" charset="0"/>
                <a:ea typeface="Noto Sans CJK KR" pitchFamily="34" charset="-122"/>
                <a:cs typeface="Noto Sans CJK KR" pitchFamily="34" charset="-120"/>
              </a:rPr>
              <a:t>검증 · REST API</a:t>
            </a:r>
            <a:endParaRPr lang="en-US" sz="1000" dirty="0"/>
          </a:p>
        </p:txBody>
      </p:sp>
      <p:sp>
        <p:nvSpPr>
          <p:cNvPr id="16" name="Text 14"/>
          <p:cNvSpPr/>
          <p:nvPr/>
        </p:nvSpPr>
        <p:spPr>
          <a:xfrm>
            <a:off x="5001768" y="2423160"/>
            <a:ext cx="292608" cy="338328"/>
          </a:xfrm>
          <a:prstGeom prst="rect">
            <a:avLst/>
          </a:prstGeom>
          <a:noFill/>
          <a:ln/>
        </p:spPr>
        <p:txBody>
          <a:bodyPr wrap="square" lIns="0" tIns="0" rIns="0" bIns="0" rtlCol="0" anchor="ctr">
            <a:normAutofit/>
          </a:bodyPr>
          <a:lstStyle/>
          <a:p>
            <a:pPr algn="ctr" indent="0" marL="0">
              <a:buNone/>
            </a:pPr>
            <a:r>
              <a:rPr lang="en-US" sz="2600" b="1" dirty="0">
                <a:solidFill>
                  <a:srgbClr val="D9BA78"/>
                </a:solidFill>
                <a:latin typeface="Noto Sans CJK KR" pitchFamily="34" charset="0"/>
                <a:ea typeface="Noto Sans CJK KR" pitchFamily="34" charset="-122"/>
                <a:cs typeface="Noto Sans CJK KR" pitchFamily="34" charset="-120"/>
              </a:rPr>
              <a:t>→</a:t>
            </a:r>
            <a:endParaRPr lang="en-US" sz="2600" dirty="0"/>
          </a:p>
        </p:txBody>
      </p:sp>
      <p:sp>
        <p:nvSpPr>
          <p:cNvPr id="17" name="Shape 15"/>
          <p:cNvSpPr/>
          <p:nvPr/>
        </p:nvSpPr>
        <p:spPr>
          <a:xfrm>
            <a:off x="5175504" y="1929384"/>
            <a:ext cx="1984248" cy="1252728"/>
          </a:xfrm>
          <a:prstGeom prst="roundRect">
            <a:avLst>
              <a:gd name="adj" fmla="val 13139"/>
            </a:avLst>
          </a:prstGeom>
          <a:solidFill>
            <a:srgbClr val="122637"/>
          </a:solidFill>
          <a:ln w="12700">
            <a:solidFill>
              <a:srgbClr val="122637">
                <a:alpha val="0"/>
              </a:srgbClr>
            </a:solidFill>
            <a:prstDash val="solid"/>
          </a:ln>
        </p:spPr>
      </p:sp>
      <p:sp>
        <p:nvSpPr>
          <p:cNvPr id="18" name="Text 16"/>
          <p:cNvSpPr/>
          <p:nvPr/>
        </p:nvSpPr>
        <p:spPr>
          <a:xfrm>
            <a:off x="5266944" y="2176272"/>
            <a:ext cx="1801368" cy="292608"/>
          </a:xfrm>
          <a:prstGeom prst="rect">
            <a:avLst/>
          </a:prstGeom>
          <a:noFill/>
          <a:ln/>
        </p:spPr>
        <p:txBody>
          <a:bodyPr wrap="square" lIns="0" tIns="0" rIns="0" bIns="0" rtlCol="0" anchor="ctr">
            <a:normAutofit/>
          </a:bodyPr>
          <a:lstStyle/>
          <a:p>
            <a:pPr algn="ctr" indent="0" marL="0">
              <a:buNone/>
            </a:pPr>
            <a:r>
              <a:rPr lang="en-US" sz="1800" b="1" dirty="0">
                <a:solidFill>
                  <a:srgbClr val="77D9AD"/>
                </a:solidFill>
                <a:latin typeface="Noto Sans CJK KR" pitchFamily="34" charset="0"/>
                <a:ea typeface="Noto Sans CJK KR" pitchFamily="34" charset="-122"/>
                <a:cs typeface="Noto Sans CJK KR" pitchFamily="34" charset="-120"/>
              </a:rPr>
              <a:t>LangGraph</a:t>
            </a:r>
            <a:endParaRPr lang="en-US" sz="1800" dirty="0"/>
          </a:p>
        </p:txBody>
      </p:sp>
      <p:sp>
        <p:nvSpPr>
          <p:cNvPr id="19" name="Text 17"/>
          <p:cNvSpPr/>
          <p:nvPr/>
        </p:nvSpPr>
        <p:spPr>
          <a:xfrm>
            <a:off x="5266944" y="2633472"/>
            <a:ext cx="1801368" cy="265176"/>
          </a:xfrm>
          <a:prstGeom prst="rect">
            <a:avLst/>
          </a:prstGeom>
          <a:noFill/>
          <a:ln/>
        </p:spPr>
        <p:txBody>
          <a:bodyPr wrap="square" lIns="0" tIns="0" rIns="0" bIns="0" rtlCol="0" anchor="ctr">
            <a:normAutofit/>
          </a:bodyPr>
          <a:lstStyle/>
          <a:p>
            <a:pPr algn="ctr" indent="0" marL="0">
              <a:buNone/>
            </a:pPr>
            <a:r>
              <a:rPr lang="en-US" sz="1000" dirty="0">
                <a:solidFill>
                  <a:srgbClr val="AFC3D1"/>
                </a:solidFill>
                <a:latin typeface="Noto Sans CJK KR" pitchFamily="34" charset="0"/>
                <a:ea typeface="Noto Sans CJK KR" pitchFamily="34" charset="-122"/>
                <a:cs typeface="Noto Sans CJK KR" pitchFamily="34" charset="-120"/>
              </a:rPr>
              <a:t>흐름 · 상태 관리</a:t>
            </a:r>
            <a:endParaRPr lang="en-US" sz="1000" dirty="0"/>
          </a:p>
        </p:txBody>
      </p:sp>
      <p:sp>
        <p:nvSpPr>
          <p:cNvPr id="20" name="Text 18"/>
          <p:cNvSpPr/>
          <p:nvPr/>
        </p:nvSpPr>
        <p:spPr>
          <a:xfrm>
            <a:off x="7178040" y="2423160"/>
            <a:ext cx="292608" cy="338328"/>
          </a:xfrm>
          <a:prstGeom prst="rect">
            <a:avLst/>
          </a:prstGeom>
          <a:noFill/>
          <a:ln/>
        </p:spPr>
        <p:txBody>
          <a:bodyPr wrap="square" lIns="0" tIns="0" rIns="0" bIns="0" rtlCol="0" anchor="ctr">
            <a:normAutofit/>
          </a:bodyPr>
          <a:lstStyle/>
          <a:p>
            <a:pPr algn="ctr" indent="0" marL="0">
              <a:buNone/>
            </a:pPr>
            <a:r>
              <a:rPr lang="en-US" sz="2600" b="1" dirty="0">
                <a:solidFill>
                  <a:srgbClr val="D9BA78"/>
                </a:solidFill>
                <a:latin typeface="Noto Sans CJK KR" pitchFamily="34" charset="0"/>
                <a:ea typeface="Noto Sans CJK KR" pitchFamily="34" charset="-122"/>
                <a:cs typeface="Noto Sans CJK KR" pitchFamily="34" charset="-120"/>
              </a:rPr>
              <a:t>→</a:t>
            </a:r>
            <a:endParaRPr lang="en-US" sz="2600" dirty="0"/>
          </a:p>
        </p:txBody>
      </p:sp>
      <p:sp>
        <p:nvSpPr>
          <p:cNvPr id="21" name="Shape 19"/>
          <p:cNvSpPr/>
          <p:nvPr/>
        </p:nvSpPr>
        <p:spPr>
          <a:xfrm>
            <a:off x="7370064" y="1929384"/>
            <a:ext cx="1947672" cy="1252728"/>
          </a:xfrm>
          <a:prstGeom prst="roundRect">
            <a:avLst>
              <a:gd name="adj" fmla="val 13139"/>
            </a:avLst>
          </a:prstGeom>
          <a:solidFill>
            <a:srgbClr val="122637"/>
          </a:solidFill>
          <a:ln w="12700">
            <a:solidFill>
              <a:srgbClr val="122637">
                <a:alpha val="0"/>
              </a:srgbClr>
            </a:solidFill>
            <a:prstDash val="solid"/>
          </a:ln>
        </p:spPr>
      </p:sp>
      <p:sp>
        <p:nvSpPr>
          <p:cNvPr id="22" name="Text 20"/>
          <p:cNvSpPr/>
          <p:nvPr/>
        </p:nvSpPr>
        <p:spPr>
          <a:xfrm>
            <a:off x="7461504" y="2176272"/>
            <a:ext cx="1764792" cy="292608"/>
          </a:xfrm>
          <a:prstGeom prst="rect">
            <a:avLst/>
          </a:prstGeom>
          <a:noFill/>
          <a:ln/>
        </p:spPr>
        <p:txBody>
          <a:bodyPr wrap="square" lIns="0" tIns="0" rIns="0" bIns="0" rtlCol="0" anchor="ctr">
            <a:normAutofit/>
          </a:bodyPr>
          <a:lstStyle/>
          <a:p>
            <a:pPr algn="ctr" indent="0" marL="0">
              <a:buNone/>
            </a:pPr>
            <a:r>
              <a:rPr lang="en-US" sz="1800" b="1" dirty="0">
                <a:solidFill>
                  <a:srgbClr val="D9BA78"/>
                </a:solidFill>
                <a:latin typeface="Noto Sans CJK KR" pitchFamily="34" charset="0"/>
                <a:ea typeface="Noto Sans CJK KR" pitchFamily="34" charset="-122"/>
                <a:cs typeface="Noto Sans CJK KR" pitchFamily="34" charset="-120"/>
              </a:rPr>
              <a:t>MCP Tool</a:t>
            </a:r>
            <a:endParaRPr lang="en-US" sz="1800" dirty="0"/>
          </a:p>
        </p:txBody>
      </p:sp>
      <p:sp>
        <p:nvSpPr>
          <p:cNvPr id="23" name="Text 21"/>
          <p:cNvSpPr/>
          <p:nvPr/>
        </p:nvSpPr>
        <p:spPr>
          <a:xfrm>
            <a:off x="7461504" y="2633472"/>
            <a:ext cx="1764792" cy="265176"/>
          </a:xfrm>
          <a:prstGeom prst="rect">
            <a:avLst/>
          </a:prstGeom>
          <a:noFill/>
          <a:ln/>
        </p:spPr>
        <p:txBody>
          <a:bodyPr wrap="square" lIns="0" tIns="0" rIns="0" bIns="0" rtlCol="0" anchor="ctr">
            <a:normAutofit/>
          </a:bodyPr>
          <a:lstStyle/>
          <a:p>
            <a:pPr algn="ctr" indent="0" marL="0">
              <a:buNone/>
            </a:pPr>
            <a:r>
              <a:rPr lang="en-US" sz="1000" dirty="0">
                <a:solidFill>
                  <a:srgbClr val="AFC3D1"/>
                </a:solidFill>
                <a:latin typeface="Noto Sans CJK KR" pitchFamily="34" charset="0"/>
                <a:ea typeface="Noto Sans CJK KR" pitchFamily="34" charset="-122"/>
                <a:cs typeface="Noto Sans CJK KR" pitchFamily="34" charset="-120"/>
              </a:rPr>
              <a:t>챔피언 데이터 조회</a:t>
            </a:r>
            <a:endParaRPr lang="en-US" sz="1000" dirty="0"/>
          </a:p>
        </p:txBody>
      </p:sp>
      <p:sp>
        <p:nvSpPr>
          <p:cNvPr id="24" name="Text 22"/>
          <p:cNvSpPr/>
          <p:nvPr/>
        </p:nvSpPr>
        <p:spPr>
          <a:xfrm>
            <a:off x="9336024" y="2423160"/>
            <a:ext cx="292608" cy="338328"/>
          </a:xfrm>
          <a:prstGeom prst="rect">
            <a:avLst/>
          </a:prstGeom>
          <a:noFill/>
          <a:ln/>
        </p:spPr>
        <p:txBody>
          <a:bodyPr wrap="square" lIns="0" tIns="0" rIns="0" bIns="0" rtlCol="0" anchor="ctr">
            <a:normAutofit/>
          </a:bodyPr>
          <a:lstStyle/>
          <a:p>
            <a:pPr algn="ctr" indent="0" marL="0">
              <a:buNone/>
            </a:pPr>
            <a:r>
              <a:rPr lang="en-US" sz="2600" b="1" dirty="0">
                <a:solidFill>
                  <a:srgbClr val="D9BA78"/>
                </a:solidFill>
                <a:latin typeface="Noto Sans CJK KR" pitchFamily="34" charset="0"/>
                <a:ea typeface="Noto Sans CJK KR" pitchFamily="34" charset="-122"/>
                <a:cs typeface="Noto Sans CJK KR" pitchFamily="34" charset="-120"/>
              </a:rPr>
              <a:t>→</a:t>
            </a:r>
            <a:endParaRPr lang="en-US" sz="2600" dirty="0"/>
          </a:p>
        </p:txBody>
      </p:sp>
      <p:sp>
        <p:nvSpPr>
          <p:cNvPr id="25" name="Shape 23"/>
          <p:cNvSpPr/>
          <p:nvPr/>
        </p:nvSpPr>
        <p:spPr>
          <a:xfrm>
            <a:off x="9555480" y="1929384"/>
            <a:ext cx="1956816" cy="1252728"/>
          </a:xfrm>
          <a:prstGeom prst="roundRect">
            <a:avLst>
              <a:gd name="adj" fmla="val 13139"/>
            </a:avLst>
          </a:prstGeom>
          <a:solidFill>
            <a:srgbClr val="122637"/>
          </a:solidFill>
          <a:ln w="12700">
            <a:solidFill>
              <a:srgbClr val="122637">
                <a:alpha val="0"/>
              </a:srgbClr>
            </a:solidFill>
            <a:prstDash val="solid"/>
          </a:ln>
        </p:spPr>
      </p:sp>
      <p:sp>
        <p:nvSpPr>
          <p:cNvPr id="26" name="Text 24"/>
          <p:cNvSpPr/>
          <p:nvPr/>
        </p:nvSpPr>
        <p:spPr>
          <a:xfrm>
            <a:off x="9646920" y="2176272"/>
            <a:ext cx="1773936" cy="292608"/>
          </a:xfrm>
          <a:prstGeom prst="rect">
            <a:avLst/>
          </a:prstGeom>
          <a:noFill/>
          <a:ln/>
        </p:spPr>
        <p:txBody>
          <a:bodyPr wrap="square" lIns="0" tIns="0" rIns="0" bIns="0" rtlCol="0" anchor="ctr">
            <a:normAutofit/>
          </a:bodyPr>
          <a:lstStyle/>
          <a:p>
            <a:pPr algn="ctr" indent="0" marL="0">
              <a:buNone/>
            </a:pPr>
            <a:r>
              <a:rPr lang="en-US" sz="1800" b="1" dirty="0">
                <a:solidFill>
                  <a:srgbClr val="5FAEE9"/>
                </a:solidFill>
                <a:latin typeface="Noto Sans CJK KR" pitchFamily="34" charset="0"/>
                <a:ea typeface="Noto Sans CJK KR" pitchFamily="34" charset="-122"/>
                <a:cs typeface="Noto Sans CJK KR" pitchFamily="34" charset="-120"/>
              </a:rPr>
              <a:t>JSON / 173명</a:t>
            </a:r>
            <a:endParaRPr lang="en-US" sz="1800" dirty="0"/>
          </a:p>
        </p:txBody>
      </p:sp>
      <p:sp>
        <p:nvSpPr>
          <p:cNvPr id="27" name="Text 25"/>
          <p:cNvSpPr/>
          <p:nvPr/>
        </p:nvSpPr>
        <p:spPr>
          <a:xfrm>
            <a:off x="9646920" y="2633472"/>
            <a:ext cx="1773936" cy="265176"/>
          </a:xfrm>
          <a:prstGeom prst="rect">
            <a:avLst/>
          </a:prstGeom>
          <a:noFill/>
          <a:ln/>
        </p:spPr>
        <p:txBody>
          <a:bodyPr wrap="square" lIns="0" tIns="0" rIns="0" bIns="0" rtlCol="0" anchor="ctr">
            <a:normAutofit/>
          </a:bodyPr>
          <a:lstStyle/>
          <a:p>
            <a:pPr algn="ctr" indent="0" marL="0">
              <a:buNone/>
            </a:pPr>
            <a:r>
              <a:rPr lang="en-US" sz="1000" dirty="0">
                <a:solidFill>
                  <a:srgbClr val="AFC3D1"/>
                </a:solidFill>
                <a:latin typeface="Noto Sans CJK KR" pitchFamily="34" charset="0"/>
                <a:ea typeface="Noto Sans CJK KR" pitchFamily="34" charset="-122"/>
                <a:cs typeface="Noto Sans CJK KR" pitchFamily="34" charset="-120"/>
              </a:rPr>
              <a:t>교육용 특성 데이터</a:t>
            </a:r>
            <a:endParaRPr lang="en-US" sz="1000" dirty="0"/>
          </a:p>
        </p:txBody>
      </p:sp>
      <p:sp>
        <p:nvSpPr>
          <p:cNvPr id="28" name="Shape 26"/>
          <p:cNvSpPr/>
          <p:nvPr/>
        </p:nvSpPr>
        <p:spPr>
          <a:xfrm>
            <a:off x="658368" y="3511296"/>
            <a:ext cx="10853928" cy="1508760"/>
          </a:xfrm>
          <a:prstGeom prst="roundRect">
            <a:avLst>
              <a:gd name="adj" fmla="val 10909"/>
            </a:avLst>
          </a:prstGeom>
          <a:solidFill>
            <a:srgbClr val="122637"/>
          </a:solidFill>
          <a:ln w="12700">
            <a:solidFill>
              <a:srgbClr val="122637">
                <a:alpha val="0"/>
              </a:srgbClr>
            </a:solidFill>
            <a:prstDash val="solid"/>
          </a:ln>
        </p:spPr>
      </p:sp>
      <p:sp>
        <p:nvSpPr>
          <p:cNvPr id="29" name="Text 27"/>
          <p:cNvSpPr/>
          <p:nvPr/>
        </p:nvSpPr>
        <p:spPr>
          <a:xfrm>
            <a:off x="859536" y="3666744"/>
            <a:ext cx="10451592" cy="347472"/>
          </a:xfrm>
          <a:prstGeom prst="rect">
            <a:avLst/>
          </a:prstGeom>
          <a:noFill/>
          <a:ln/>
        </p:spPr>
        <p:txBody>
          <a:bodyPr wrap="square" lIns="0" tIns="0" rIns="0" bIns="0" rtlCol="0" anchor="ctr">
            <a:normAutofit/>
          </a:bodyPr>
          <a:lstStyle/>
          <a:p>
            <a:pPr algn="l" indent="0" marL="0">
              <a:buNone/>
            </a:pPr>
            <a:r>
              <a:rPr lang="en-US" sz="1400" b="1" dirty="0">
                <a:solidFill>
                  <a:srgbClr val="D9BA78"/>
                </a:solidFill>
                <a:latin typeface="Noto Sans CJK KR" pitchFamily="34" charset="0"/>
                <a:ea typeface="Noto Sans CJK KR" pitchFamily="34" charset="-122"/>
                <a:cs typeface="Noto Sans CJK KR" pitchFamily="34" charset="-120"/>
              </a:rPr>
              <a:t>LangGraph 3단계</a:t>
            </a:r>
            <a:endParaRPr lang="en-US" sz="1400" dirty="0"/>
          </a:p>
        </p:txBody>
      </p:sp>
      <p:sp>
        <p:nvSpPr>
          <p:cNvPr id="30" name="Shape 28"/>
          <p:cNvSpPr/>
          <p:nvPr/>
        </p:nvSpPr>
        <p:spPr>
          <a:xfrm>
            <a:off x="950976" y="4215384"/>
            <a:ext cx="2880360" cy="365760"/>
          </a:xfrm>
          <a:prstGeom prst="roundRect">
            <a:avLst>
              <a:gd name="adj" fmla="val 45000"/>
            </a:avLst>
          </a:prstGeom>
          <a:solidFill>
            <a:srgbClr val="0D1F2D"/>
          </a:solidFill>
          <a:ln w="12700">
            <a:solidFill>
              <a:srgbClr val="0D1F2D">
                <a:alpha val="0"/>
              </a:srgbClr>
            </a:solidFill>
            <a:prstDash val="solid"/>
          </a:ln>
        </p:spPr>
      </p:sp>
      <p:sp>
        <p:nvSpPr>
          <p:cNvPr id="31" name="Text 29"/>
          <p:cNvSpPr/>
          <p:nvPr/>
        </p:nvSpPr>
        <p:spPr>
          <a:xfrm>
            <a:off x="1042416" y="4224528"/>
            <a:ext cx="2697480" cy="329184"/>
          </a:xfrm>
          <a:prstGeom prst="rect">
            <a:avLst/>
          </a:prstGeom>
          <a:noFill/>
          <a:ln/>
        </p:spPr>
        <p:txBody>
          <a:bodyPr wrap="square" lIns="0" tIns="0" rIns="0" bIns="0" rtlCol="0" anchor="ctr">
            <a:normAutofit/>
          </a:bodyPr>
          <a:lstStyle/>
          <a:p>
            <a:pPr algn="ctr" indent="0" marL="0">
              <a:buNone/>
            </a:pPr>
            <a:r>
              <a:rPr lang="en-US" sz="1200" b="1" dirty="0">
                <a:solidFill>
                  <a:srgbClr val="D9BA78"/>
                </a:solidFill>
                <a:latin typeface="Noto Sans CJK KR" pitchFamily="34" charset="0"/>
                <a:ea typeface="Noto Sans CJK KR" pitchFamily="34" charset="-122"/>
                <a:cs typeface="Noto Sans CJK KR" pitchFamily="34" charset="-120"/>
              </a:rPr>
              <a:t>① retrieve: MCP 조회</a:t>
            </a:r>
            <a:endParaRPr lang="en-US" sz="1200" dirty="0"/>
          </a:p>
        </p:txBody>
      </p:sp>
      <p:sp>
        <p:nvSpPr>
          <p:cNvPr id="32" name="Text 30"/>
          <p:cNvSpPr/>
          <p:nvPr/>
        </p:nvSpPr>
        <p:spPr>
          <a:xfrm>
            <a:off x="3950208" y="4197096"/>
            <a:ext cx="402336" cy="338328"/>
          </a:xfrm>
          <a:prstGeom prst="rect">
            <a:avLst/>
          </a:prstGeom>
          <a:noFill/>
          <a:ln/>
        </p:spPr>
        <p:txBody>
          <a:bodyPr wrap="square" lIns="0" tIns="0" rIns="0" bIns="0" rtlCol="0" anchor="ctr">
            <a:normAutofit/>
          </a:bodyPr>
          <a:lstStyle/>
          <a:p>
            <a:pPr algn="ctr" indent="0" marL="0">
              <a:buNone/>
            </a:pPr>
            <a:r>
              <a:rPr lang="en-US" sz="2600" b="1" dirty="0">
                <a:solidFill>
                  <a:srgbClr val="D9BA78"/>
                </a:solidFill>
                <a:latin typeface="Noto Sans CJK KR" pitchFamily="34" charset="0"/>
                <a:ea typeface="Noto Sans CJK KR" pitchFamily="34" charset="-122"/>
                <a:cs typeface="Noto Sans CJK KR" pitchFamily="34" charset="-120"/>
              </a:rPr>
              <a:t>→</a:t>
            </a:r>
            <a:endParaRPr lang="en-US" sz="2600" dirty="0"/>
          </a:p>
        </p:txBody>
      </p:sp>
      <p:sp>
        <p:nvSpPr>
          <p:cNvPr id="33" name="Shape 31"/>
          <p:cNvSpPr/>
          <p:nvPr/>
        </p:nvSpPr>
        <p:spPr>
          <a:xfrm>
            <a:off x="4398264" y="4215384"/>
            <a:ext cx="2852928" cy="365760"/>
          </a:xfrm>
          <a:prstGeom prst="roundRect">
            <a:avLst>
              <a:gd name="adj" fmla="val 45000"/>
            </a:avLst>
          </a:prstGeom>
          <a:solidFill>
            <a:srgbClr val="0D1F2D"/>
          </a:solidFill>
          <a:ln w="12700">
            <a:solidFill>
              <a:srgbClr val="0D1F2D">
                <a:alpha val="0"/>
              </a:srgbClr>
            </a:solidFill>
            <a:prstDash val="solid"/>
          </a:ln>
        </p:spPr>
      </p:sp>
      <p:sp>
        <p:nvSpPr>
          <p:cNvPr id="34" name="Text 32"/>
          <p:cNvSpPr/>
          <p:nvPr/>
        </p:nvSpPr>
        <p:spPr>
          <a:xfrm>
            <a:off x="4489704" y="4224528"/>
            <a:ext cx="2670048" cy="329184"/>
          </a:xfrm>
          <a:prstGeom prst="rect">
            <a:avLst/>
          </a:prstGeom>
          <a:noFill/>
          <a:ln/>
        </p:spPr>
        <p:txBody>
          <a:bodyPr wrap="square" lIns="0" tIns="0" rIns="0" bIns="0" rtlCol="0" anchor="ctr">
            <a:normAutofit/>
          </a:bodyPr>
          <a:lstStyle/>
          <a:p>
            <a:pPr algn="ctr" indent="0" marL="0">
              <a:buNone/>
            </a:pPr>
            <a:r>
              <a:rPr lang="en-US" sz="1200" b="1" dirty="0">
                <a:solidFill>
                  <a:srgbClr val="77D9AD"/>
                </a:solidFill>
                <a:latin typeface="Noto Sans CJK KR" pitchFamily="34" charset="0"/>
                <a:ea typeface="Noto Sans CJK KR" pitchFamily="34" charset="-122"/>
                <a:cs typeface="Noto Sans CJK KR" pitchFamily="34" charset="-120"/>
              </a:rPr>
              <a:t>② score: Python 계산</a:t>
            </a:r>
            <a:endParaRPr lang="en-US" sz="1200" dirty="0"/>
          </a:p>
        </p:txBody>
      </p:sp>
      <p:sp>
        <p:nvSpPr>
          <p:cNvPr id="35" name="Text 33"/>
          <p:cNvSpPr/>
          <p:nvPr/>
        </p:nvSpPr>
        <p:spPr>
          <a:xfrm>
            <a:off x="7370064" y="4197096"/>
            <a:ext cx="402336" cy="338328"/>
          </a:xfrm>
          <a:prstGeom prst="rect">
            <a:avLst/>
          </a:prstGeom>
          <a:noFill/>
          <a:ln/>
        </p:spPr>
        <p:txBody>
          <a:bodyPr wrap="square" lIns="0" tIns="0" rIns="0" bIns="0" rtlCol="0" anchor="ctr">
            <a:normAutofit/>
          </a:bodyPr>
          <a:lstStyle/>
          <a:p>
            <a:pPr algn="ctr" indent="0" marL="0">
              <a:buNone/>
            </a:pPr>
            <a:r>
              <a:rPr lang="en-US" sz="2600" b="1" dirty="0">
                <a:solidFill>
                  <a:srgbClr val="D9BA78"/>
                </a:solidFill>
                <a:latin typeface="Noto Sans CJK KR" pitchFamily="34" charset="0"/>
                <a:ea typeface="Noto Sans CJK KR" pitchFamily="34" charset="-122"/>
                <a:cs typeface="Noto Sans CJK KR" pitchFamily="34" charset="-120"/>
              </a:rPr>
              <a:t>→</a:t>
            </a:r>
            <a:endParaRPr lang="en-US" sz="2600" dirty="0"/>
          </a:p>
        </p:txBody>
      </p:sp>
      <p:sp>
        <p:nvSpPr>
          <p:cNvPr id="36" name="Shape 34"/>
          <p:cNvSpPr/>
          <p:nvPr/>
        </p:nvSpPr>
        <p:spPr>
          <a:xfrm>
            <a:off x="7818120" y="4215384"/>
            <a:ext cx="3337560" cy="365760"/>
          </a:xfrm>
          <a:prstGeom prst="roundRect">
            <a:avLst>
              <a:gd name="adj" fmla="val 45000"/>
            </a:avLst>
          </a:prstGeom>
          <a:solidFill>
            <a:srgbClr val="0D1F2D"/>
          </a:solidFill>
          <a:ln w="12700">
            <a:solidFill>
              <a:srgbClr val="0D1F2D">
                <a:alpha val="0"/>
              </a:srgbClr>
            </a:solidFill>
            <a:prstDash val="solid"/>
          </a:ln>
        </p:spPr>
      </p:sp>
      <p:sp>
        <p:nvSpPr>
          <p:cNvPr id="37" name="Text 35"/>
          <p:cNvSpPr/>
          <p:nvPr/>
        </p:nvSpPr>
        <p:spPr>
          <a:xfrm>
            <a:off x="7909560" y="4224528"/>
            <a:ext cx="3154680" cy="329184"/>
          </a:xfrm>
          <a:prstGeom prst="rect">
            <a:avLst/>
          </a:prstGeom>
          <a:noFill/>
          <a:ln/>
        </p:spPr>
        <p:txBody>
          <a:bodyPr wrap="square" lIns="0" tIns="0" rIns="0" bIns="0" rtlCol="0" anchor="ctr">
            <a:normAutofit/>
          </a:bodyPr>
          <a:lstStyle/>
          <a:p>
            <a:pPr algn="ctr" indent="0" marL="0">
              <a:buNone/>
            </a:pPr>
            <a:r>
              <a:rPr lang="en-US" sz="1200" b="1" dirty="0">
                <a:solidFill>
                  <a:srgbClr val="5FAEE9"/>
                </a:solidFill>
                <a:latin typeface="Noto Sans CJK KR" pitchFamily="34" charset="0"/>
                <a:ea typeface="Noto Sans CJK KR" pitchFamily="34" charset="-122"/>
                <a:cs typeface="Noto Sans CJK KR" pitchFamily="34" charset="-120"/>
              </a:rPr>
              <a:t>③ explain: OpenAI</a:t>
            </a:r>
            <a:endParaRPr lang="en-US" sz="1200" dirty="0"/>
          </a:p>
        </p:txBody>
      </p:sp>
      <p:sp>
        <p:nvSpPr>
          <p:cNvPr id="38" name="Text 36"/>
          <p:cNvSpPr/>
          <p:nvPr/>
        </p:nvSpPr>
        <p:spPr>
          <a:xfrm>
            <a:off x="749808" y="5413248"/>
            <a:ext cx="1874520" cy="356616"/>
          </a:xfrm>
          <a:prstGeom prst="rect">
            <a:avLst/>
          </a:prstGeom>
          <a:noFill/>
          <a:ln/>
        </p:spPr>
        <p:txBody>
          <a:bodyPr wrap="square" lIns="0" tIns="0" rIns="0" bIns="0" rtlCol="0" anchor="ctr">
            <a:normAutofit/>
          </a:bodyPr>
          <a:lstStyle/>
          <a:p>
            <a:pPr algn="l" indent="0" marL="0">
              <a:buNone/>
            </a:pPr>
            <a:r>
              <a:rPr lang="en-US" sz="1700" b="1" dirty="0">
                <a:solidFill>
                  <a:srgbClr val="D9BA78"/>
                </a:solidFill>
                <a:latin typeface="Noto Sans CJK KR" pitchFamily="34" charset="0"/>
                <a:ea typeface="Noto Sans CJK KR" pitchFamily="34" charset="-122"/>
                <a:cs typeface="Noto Sans CJK KR" pitchFamily="34" charset="-120"/>
              </a:rPr>
              <a:t>핵심 안전장치</a:t>
            </a:r>
            <a:endParaRPr lang="en-US" sz="1700" dirty="0"/>
          </a:p>
        </p:txBody>
      </p:sp>
      <p:sp>
        <p:nvSpPr>
          <p:cNvPr id="39" name="Text 37"/>
          <p:cNvSpPr/>
          <p:nvPr/>
        </p:nvSpPr>
        <p:spPr>
          <a:xfrm>
            <a:off x="2697480" y="5449824"/>
            <a:ext cx="8851392" cy="530352"/>
          </a:xfrm>
          <a:prstGeom prst="rect">
            <a:avLst/>
          </a:prstGeom>
          <a:noFill/>
          <a:ln/>
        </p:spPr>
        <p:txBody>
          <a:bodyPr wrap="square" lIns="0" tIns="0" rIns="0" bIns="0" rtlCol="0" anchor="ctr">
            <a:normAutofit/>
          </a:bodyPr>
          <a:lstStyle/>
          <a:p>
            <a:pPr algn="l" indent="0" marL="0">
              <a:buNone/>
            </a:pPr>
            <a:r>
              <a:rPr lang="en-US" sz="1500" dirty="0">
                <a:solidFill>
                  <a:srgbClr val="F5F7FA"/>
                </a:solidFill>
                <a:latin typeface="Noto Sans CJK KR" pitchFamily="34" charset="0"/>
                <a:ea typeface="Noto Sans CJK KR" pitchFamily="34" charset="-122"/>
                <a:cs typeface="Noto Sans CJK KR" pitchFamily="34" charset="-120"/>
              </a:rPr>
              <a:t>OpenAI는 제공된 근거 번호만 선택 → 서버가 검증 후 챔피언 이름·점수·문장 구성</a:t>
            </a:r>
            <a:endParaRPr lang="en-US" sz="1500" dirty="0"/>
          </a:p>
        </p:txBody>
      </p:sp>
      <p:sp>
        <p:nvSpPr>
          <p:cNvPr id="40" name="Text 38"/>
          <p:cNvSpPr/>
          <p:nvPr/>
        </p:nvSpPr>
        <p:spPr>
          <a:xfrm>
            <a:off x="722376" y="6099048"/>
            <a:ext cx="10826496" cy="246888"/>
          </a:xfrm>
          <a:prstGeom prst="rect">
            <a:avLst/>
          </a:prstGeom>
          <a:noFill/>
          <a:ln/>
        </p:spPr>
        <p:txBody>
          <a:bodyPr wrap="square" lIns="0" tIns="0" rIns="0" bIns="0" rtlCol="0" anchor="ctr">
            <a:normAutofit/>
          </a:bodyPr>
          <a:lstStyle/>
          <a:p>
            <a:pPr algn="l" indent="0" marL="0">
              <a:buNone/>
            </a:pPr>
            <a:r>
              <a:rPr lang="en-US" sz="1100" dirty="0">
                <a:solidFill>
                  <a:srgbClr val="AFC3D1"/>
                </a:solidFill>
                <a:latin typeface="Noto Sans CJK KR" pitchFamily="34" charset="0"/>
                <a:ea typeface="Noto Sans CJK KR" pitchFamily="34" charset="-122"/>
                <a:cs typeface="Noto Sans CJK KR" pitchFamily="34" charset="-120"/>
              </a:rPr>
              <a:t>※ 정량 점수와 추천 순위는 Python이 결정 · LangGraph는 정해진 선형 실행 흐름</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gd name="adj" fmla="val 189474"/>
            </a:avLst>
          </a:prstGeom>
          <a:solidFill>
            <a:srgbClr val="D9BA78"/>
          </a:solidFill>
          <a:ln w="12700">
            <a:solidFill>
              <a:srgbClr val="D9BA78">
                <a:alpha val="0"/>
              </a:srgbClr>
            </a:solidFill>
            <a:prstDash val="solid"/>
          </a:ln>
        </p:spPr>
      </p:sp>
      <p:sp>
        <p:nvSpPr>
          <p:cNvPr id="3" name="Shape 1"/>
          <p:cNvSpPr/>
          <p:nvPr/>
        </p:nvSpPr>
        <p:spPr>
          <a:xfrm>
            <a:off x="10378440" y="164592"/>
            <a:ext cx="1444752" cy="1444752"/>
          </a:xfrm>
          <a:prstGeom prst="ellipse">
            <a:avLst/>
          </a:prstGeom>
          <a:solidFill>
            <a:srgbClr val="0D1F2D"/>
          </a:solidFill>
          <a:ln w="12700">
            <a:solidFill>
              <a:srgbClr val="0D1F2D">
                <a:alpha val="0"/>
              </a:srgbClr>
            </a:solidFill>
            <a:prstDash val="solid"/>
          </a:ln>
        </p:spPr>
      </p:sp>
      <p:sp>
        <p:nvSpPr>
          <p:cNvPr id="4" name="Text 2"/>
          <p:cNvSpPr/>
          <p:nvPr/>
        </p:nvSpPr>
        <p:spPr>
          <a:xfrm>
            <a:off x="603504" y="347472"/>
            <a:ext cx="7315200" cy="274320"/>
          </a:xfrm>
          <a:prstGeom prst="rect">
            <a:avLst/>
          </a:prstGeom>
          <a:noFill/>
          <a:ln/>
        </p:spPr>
        <p:txBody>
          <a:bodyPr wrap="square" lIns="0" tIns="0" rIns="0" bIns="0" rtlCol="0" anchor="ctr">
            <a:normAutofit/>
          </a:bodyPr>
          <a:lstStyle/>
          <a:p>
            <a:pPr algn="l" indent="0" marL="0">
              <a:buNone/>
            </a:pPr>
            <a:r>
              <a:rPr lang="en-US" sz="1000" b="1" spc="180" kern="0" dirty="0">
                <a:solidFill>
                  <a:srgbClr val="D9BA78"/>
                </a:solidFill>
                <a:latin typeface="Noto Sans CJK KR" pitchFamily="34" charset="0"/>
                <a:ea typeface="Noto Sans CJK KR" pitchFamily="34" charset="-122"/>
                <a:cs typeface="Noto Sans CJK KR" pitchFamily="34" charset="-120"/>
              </a:rPr>
              <a:t>04 / ACTUAL RESULT</a:t>
            </a:r>
            <a:endParaRPr lang="en-US" sz="1000" dirty="0"/>
          </a:p>
        </p:txBody>
      </p:sp>
      <p:sp>
        <p:nvSpPr>
          <p:cNvPr id="5" name="Text 3"/>
          <p:cNvSpPr/>
          <p:nvPr/>
        </p:nvSpPr>
        <p:spPr>
          <a:xfrm>
            <a:off x="603504" y="749808"/>
            <a:ext cx="10927080" cy="640080"/>
          </a:xfrm>
          <a:prstGeom prst="rect">
            <a:avLst/>
          </a:prstGeom>
          <a:noFill/>
          <a:ln/>
        </p:spPr>
        <p:txBody>
          <a:bodyPr wrap="square" lIns="0" tIns="0" rIns="0" bIns="0" rtlCol="0" anchor="ctr">
            <a:normAutofit/>
          </a:bodyPr>
          <a:lstStyle/>
          <a:p>
            <a:pPr algn="l" indent="0" marL="0">
              <a:buNone/>
            </a:pPr>
            <a:r>
              <a:rPr lang="en-US" sz="2800" b="1" dirty="0">
                <a:solidFill>
                  <a:srgbClr val="F5F7FA"/>
                </a:solidFill>
                <a:latin typeface="Noto Sans CJK KR" pitchFamily="34" charset="0"/>
                <a:ea typeface="Noto Sans CJK KR" pitchFamily="34" charset="-122"/>
                <a:cs typeface="Noto Sans CJK KR" pitchFamily="34" charset="-120"/>
              </a:rPr>
              <a:t>실제 실행 사례: 야스오 + 징크스</a:t>
            </a:r>
            <a:endParaRPr lang="en-US" sz="2800" dirty="0"/>
          </a:p>
        </p:txBody>
      </p:sp>
      <p:sp>
        <p:nvSpPr>
          <p:cNvPr id="6" name="Shape 4"/>
          <p:cNvSpPr/>
          <p:nvPr/>
        </p:nvSpPr>
        <p:spPr>
          <a:xfrm>
            <a:off x="603504" y="1499616"/>
            <a:ext cx="10991088" cy="0"/>
          </a:xfrm>
          <a:prstGeom prst="line">
            <a:avLst>
              <a:gd name="adj" fmla="val Infinity"/>
            </a:avLst>
          </a:prstGeom>
          <a:solidFill>
            <a:srgbClr val="2B4555"/>
          </a:solidFill>
          <a:ln w="10160">
            <a:solidFill>
              <a:srgbClr val="2B4555"/>
            </a:solidFill>
            <a:prstDash val="solid"/>
          </a:ln>
        </p:spPr>
      </p:sp>
      <p:sp>
        <p:nvSpPr>
          <p:cNvPr id="7" name="Text 5"/>
          <p:cNvSpPr/>
          <p:nvPr/>
        </p:nvSpPr>
        <p:spPr>
          <a:xfrm>
            <a:off x="612648" y="6519672"/>
            <a:ext cx="5486400" cy="173736"/>
          </a:xfrm>
          <a:prstGeom prst="rect">
            <a:avLst/>
          </a:prstGeom>
          <a:noFill/>
          <a:ln/>
        </p:spPr>
        <p:txBody>
          <a:bodyPr wrap="square" lIns="0" tIns="0" rIns="0" bIns="0" rtlCol="0" anchor="ctr">
            <a:normAutofit/>
          </a:bodyPr>
          <a:lstStyle/>
          <a:p>
            <a:pPr algn="l" indent="0" marL="0">
              <a:buNone/>
            </a:pPr>
            <a:r>
              <a:rPr lang="en-US" sz="800" dirty="0">
                <a:solidFill>
                  <a:srgbClr val="AFC3D1"/>
                </a:solidFill>
                <a:latin typeface="Noto Sans CJK KR" pitchFamily="34" charset="0"/>
                <a:ea typeface="Noto Sans CJK KR" pitchFamily="34" charset="-122"/>
                <a:cs typeface="Noto Sans CJK KR" pitchFamily="34" charset="-120"/>
              </a:rPr>
              <a:t>DRAFTWISE AI  /  SKALA MINI-PROJECT</a:t>
            </a:r>
            <a:endParaRPr lang="en-US" sz="800" dirty="0"/>
          </a:p>
        </p:txBody>
      </p:sp>
      <p:sp>
        <p:nvSpPr>
          <p:cNvPr id="8" name="Text 6"/>
          <p:cNvSpPr/>
          <p:nvPr/>
        </p:nvSpPr>
        <p:spPr>
          <a:xfrm>
            <a:off x="10972800" y="6501384"/>
            <a:ext cx="585216" cy="201168"/>
          </a:xfrm>
          <a:prstGeom prst="rect">
            <a:avLst/>
          </a:prstGeom>
          <a:noFill/>
          <a:ln/>
        </p:spPr>
        <p:txBody>
          <a:bodyPr wrap="square" lIns="0" tIns="0" rIns="0" bIns="0" rtlCol="0" anchor="ctr">
            <a:normAutofit/>
          </a:bodyPr>
          <a:lstStyle/>
          <a:p>
            <a:pPr algn="r" indent="0" marL="0">
              <a:buNone/>
            </a:pPr>
            <a:r>
              <a:rPr lang="en-US" sz="900" dirty="0">
                <a:solidFill>
                  <a:srgbClr val="D9BA78"/>
                </a:solidFill>
                <a:latin typeface="Noto Sans CJK KR" pitchFamily="34" charset="0"/>
                <a:ea typeface="Noto Sans CJK KR" pitchFamily="34" charset="-122"/>
                <a:cs typeface="Noto Sans CJK KR" pitchFamily="34" charset="-120"/>
              </a:rPr>
              <a:t>05 / 08</a:t>
            </a:r>
            <a:endParaRPr lang="en-US" sz="900" dirty="0"/>
          </a:p>
        </p:txBody>
      </p:sp>
      <p:sp>
        <p:nvSpPr>
          <p:cNvPr id="9" name="TextBox 8"/>
          <p:cNvSpPr txBox="1"/>
          <p:nvPr/>
        </p:nvSpPr>
        <p:spPr>
          <a:xfrm>
            <a:off x="658368" y="1636776"/>
            <a:ext cx="10881360" cy="246888"/>
          </a:xfrm>
          <a:prstGeom prst="rect">
            <a:avLst/>
          </a:prstGeom>
          <a:noFill/>
        </p:spPr>
        <p:txBody>
          <a:bodyPr wrap="square" lIns="0" rIns="0" tIns="0" bIns="0" anchor="ctr">
            <a:noAutofit/>
          </a:bodyPr>
          <a:lstStyle/>
          <a:p>
            <a:pPr>
              <a:spcBef>
                <a:spcPts val="0"/>
              </a:spcBef>
              <a:spcAft>
                <a:spcPts val="0"/>
              </a:spcAft>
            </a:pPr>
            <a:r>
              <a:rPr sz="1200" b="0">
                <a:solidFill>
                  <a:srgbClr val="AFC3D1"/>
                </a:solidFill>
                <a:latin typeface="Noto Sans CJK KR"/>
              </a:rPr>
              <a:t>정글 · 아군 야스오 / 징크스 · 주력 자크 / 에코 / 자이라</a:t>
            </a:r>
          </a:p>
        </p:txBody>
      </p:sp>
      <p:pic>
        <p:nvPicPr>
          <p:cNvPr id="10" name="Picture 9" descr="실제 Chrome 실행 캡처: 04-real-ai-analysis.png; 원본 비율 유지, 영역 확대"/>
          <p:cNvPicPr>
            <a:picLocks noChangeAspect="1"/>
          </p:cNvPicPr>
          <p:nvPr/>
        </p:nvPicPr>
        <p:blipFill>
          <a:blip r:embed="rId4"/>
          <a:srcRect t="32877"/>
          <a:stretch>
            <a:fillRect/>
          </a:stretch>
        </p:blipFill>
        <p:spPr>
          <a:xfrm>
            <a:off x="658368" y="1975104"/>
            <a:ext cx="10881360" cy="2752438"/>
          </a:xfrm>
          <a:prstGeom prst="rect">
            <a:avLst/>
          </a:prstGeom>
          <a:ln w="8890">
            <a:solidFill>
              <a:srgbClr val="3A4D59"/>
            </a:solidFill>
          </a:ln>
        </p:spPr>
      </p:pic>
      <p:sp>
        <p:nvSpPr>
          <p:cNvPr id="11" name="TextBox 10"/>
          <p:cNvSpPr txBox="1"/>
          <p:nvPr/>
        </p:nvSpPr>
        <p:spPr>
          <a:xfrm>
            <a:off x="658368" y="4873752"/>
            <a:ext cx="10881360" cy="274320"/>
          </a:xfrm>
          <a:prstGeom prst="rect">
            <a:avLst/>
          </a:prstGeom>
          <a:noFill/>
        </p:spPr>
        <p:txBody>
          <a:bodyPr wrap="square" lIns="0" rIns="0" tIns="0" bIns="0" anchor="ctr">
            <a:noAutofit/>
          </a:bodyPr>
          <a:lstStyle/>
          <a:p>
            <a:pPr>
              <a:spcBef>
                <a:spcPts val="0"/>
              </a:spcBef>
              <a:spcAft>
                <a:spcPts val="0"/>
              </a:spcAft>
            </a:pPr>
            <a:r>
              <a:rPr sz="1500" b="1">
                <a:solidFill>
                  <a:srgbClr val="D9BA78"/>
                </a:solidFill>
                <a:latin typeface="Noto Sans CJK KR"/>
              </a:rPr>
              <a:t>자크 선택 전 → 후  |  AP·앞라인·강한 CC  0 → 1</a:t>
            </a:r>
          </a:p>
        </p:txBody>
      </p:sp>
      <p:pic>
        <p:nvPicPr>
          <p:cNvPr id="12" name="Picture 11" descr="실제 Chrome 실행 캡처: 05-composition-comparison.png; 원본 비율 유지, 영역 확대"/>
          <p:cNvPicPr>
            <a:picLocks noChangeAspect="1"/>
          </p:cNvPicPr>
          <p:nvPr/>
        </p:nvPicPr>
        <p:blipFill>
          <a:blip r:embed="rId5"/>
          <a:srcRect t="31111" b="32381"/>
          <a:stretch>
            <a:fillRect/>
          </a:stretch>
        </p:blipFill>
        <p:spPr>
          <a:xfrm>
            <a:off x="658368" y="5266944"/>
            <a:ext cx="10881360" cy="922829"/>
          </a:xfrm>
          <a:prstGeom prst="rect">
            <a:avLst/>
          </a:prstGeom>
          <a:ln w="8890">
            <a:solidFill>
              <a:srgbClr val="3A4D59"/>
            </a:solidFill>
          </a:ln>
        </p:spPr>
      </p:pic>
      <p:sp>
        <p:nvSpPr>
          <p:cNvPr id="13" name="TextBox 12"/>
          <p:cNvSpPr txBox="1"/>
          <p:nvPr/>
        </p:nvSpPr>
        <p:spPr>
          <a:xfrm>
            <a:off x="658368" y="6245352"/>
            <a:ext cx="10881360" cy="192024"/>
          </a:xfrm>
          <a:prstGeom prst="rect">
            <a:avLst/>
          </a:prstGeom>
          <a:noFill/>
        </p:spPr>
        <p:txBody>
          <a:bodyPr wrap="square" lIns="0" rIns="0" tIns="0" bIns="0" anchor="ctr">
            <a:noAutofit/>
          </a:bodyPr>
          <a:lstStyle/>
          <a:p>
            <a:pPr>
              <a:spcBef>
                <a:spcPts val="0"/>
              </a:spcBef>
              <a:spcAft>
                <a:spcPts val="0"/>
              </a:spcAft>
            </a:pPr>
            <a:r>
              <a:rPr sz="1050" b="0">
                <a:solidFill>
                  <a:srgbClr val="AFC3D1"/>
                </a:solidFill>
                <a:latin typeface="Noto Sans CJK KR"/>
              </a:rPr>
              <a:t>수치는 특성 보유 챔피언 수이며 승률이 아님 · 실제 캡처의 추천 점수와 비교 결과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gd name="adj" fmla="val 189474"/>
            </a:avLst>
          </a:prstGeom>
          <a:solidFill>
            <a:srgbClr val="D9BA78"/>
          </a:solidFill>
          <a:ln w="12700">
            <a:solidFill>
              <a:srgbClr val="D9BA78">
                <a:alpha val="0"/>
              </a:srgbClr>
            </a:solidFill>
            <a:prstDash val="solid"/>
          </a:ln>
        </p:spPr>
      </p:sp>
      <p:sp>
        <p:nvSpPr>
          <p:cNvPr id="3" name="Shape 1"/>
          <p:cNvSpPr/>
          <p:nvPr/>
        </p:nvSpPr>
        <p:spPr>
          <a:xfrm>
            <a:off x="10378440" y="164592"/>
            <a:ext cx="1444752" cy="1444752"/>
          </a:xfrm>
          <a:prstGeom prst="ellipse">
            <a:avLst/>
          </a:prstGeom>
          <a:solidFill>
            <a:srgbClr val="0D1F2D"/>
          </a:solidFill>
          <a:ln w="12700">
            <a:solidFill>
              <a:srgbClr val="0D1F2D">
                <a:alpha val="0"/>
              </a:srgbClr>
            </a:solidFill>
            <a:prstDash val="solid"/>
          </a:ln>
        </p:spPr>
      </p:sp>
      <p:sp>
        <p:nvSpPr>
          <p:cNvPr id="4" name="Text 2"/>
          <p:cNvSpPr/>
          <p:nvPr/>
        </p:nvSpPr>
        <p:spPr>
          <a:xfrm>
            <a:off x="603504" y="347472"/>
            <a:ext cx="7315200" cy="274320"/>
          </a:xfrm>
          <a:prstGeom prst="rect">
            <a:avLst/>
          </a:prstGeom>
          <a:noFill/>
          <a:ln/>
        </p:spPr>
        <p:txBody>
          <a:bodyPr wrap="square" lIns="0" tIns="0" rIns="0" bIns="0" rtlCol="0" anchor="ctr">
            <a:normAutofit/>
          </a:bodyPr>
          <a:lstStyle/>
          <a:p>
            <a:pPr algn="l" indent="0" marL="0">
              <a:buNone/>
            </a:pPr>
            <a:r>
              <a:rPr lang="en-US" sz="1000" b="1" spc="180" kern="0" dirty="0">
                <a:solidFill>
                  <a:srgbClr val="D9BA78"/>
                </a:solidFill>
                <a:latin typeface="Noto Sans CJK KR" pitchFamily="34" charset="0"/>
                <a:ea typeface="Noto Sans CJK KR" pitchFamily="34" charset="-122"/>
                <a:cs typeface="Noto Sans CJK KR" pitchFamily="34" charset="-120"/>
              </a:rPr>
              <a:t>05 / QUALITY ASSURANCE</a:t>
            </a:r>
            <a:endParaRPr lang="en-US" sz="1000" dirty="0"/>
          </a:p>
        </p:txBody>
      </p:sp>
      <p:sp>
        <p:nvSpPr>
          <p:cNvPr id="5" name="Text 3"/>
          <p:cNvSpPr/>
          <p:nvPr/>
        </p:nvSpPr>
        <p:spPr>
          <a:xfrm>
            <a:off x="603504" y="749808"/>
            <a:ext cx="10927080" cy="640080"/>
          </a:xfrm>
          <a:prstGeom prst="rect">
            <a:avLst/>
          </a:prstGeom>
          <a:noFill/>
          <a:ln/>
        </p:spPr>
        <p:txBody>
          <a:bodyPr wrap="square" lIns="0" tIns="0" rIns="0" bIns="0" rtlCol="0" anchor="ctr">
            <a:normAutofit/>
          </a:bodyPr>
          <a:lstStyle/>
          <a:p>
            <a:pPr algn="l" indent="0" marL="0">
              <a:buNone/>
            </a:pPr>
            <a:r>
              <a:rPr lang="en-US" sz="2800" b="1" dirty="0">
                <a:solidFill>
                  <a:srgbClr val="F5F7FA"/>
                </a:solidFill>
                <a:latin typeface="Noto Sans CJK KR" pitchFamily="34" charset="0"/>
                <a:ea typeface="Noto Sans CJK KR" pitchFamily="34" charset="-122"/>
                <a:cs typeface="Noto Sans CJK KR" pitchFamily="34" charset="-120"/>
              </a:rPr>
              <a:t>실행 기록으로 검증한 결과</a:t>
            </a:r>
            <a:endParaRPr lang="en-US" sz="2800" dirty="0"/>
          </a:p>
        </p:txBody>
      </p:sp>
      <p:sp>
        <p:nvSpPr>
          <p:cNvPr id="6" name="Shape 4"/>
          <p:cNvSpPr/>
          <p:nvPr/>
        </p:nvSpPr>
        <p:spPr>
          <a:xfrm>
            <a:off x="603504" y="1499616"/>
            <a:ext cx="10991088" cy="0"/>
          </a:xfrm>
          <a:prstGeom prst="line">
            <a:avLst>
              <a:gd name="adj" fmla="val Infinity"/>
            </a:avLst>
          </a:prstGeom>
          <a:solidFill>
            <a:srgbClr val="2B4555"/>
          </a:solidFill>
          <a:ln w="10160">
            <a:solidFill>
              <a:srgbClr val="2B4555"/>
            </a:solidFill>
            <a:prstDash val="solid"/>
          </a:ln>
        </p:spPr>
      </p:sp>
      <p:sp>
        <p:nvSpPr>
          <p:cNvPr id="7" name="Text 5"/>
          <p:cNvSpPr/>
          <p:nvPr/>
        </p:nvSpPr>
        <p:spPr>
          <a:xfrm>
            <a:off x="612648" y="6519672"/>
            <a:ext cx="5486400" cy="173736"/>
          </a:xfrm>
          <a:prstGeom prst="rect">
            <a:avLst/>
          </a:prstGeom>
          <a:noFill/>
          <a:ln/>
        </p:spPr>
        <p:txBody>
          <a:bodyPr wrap="square" lIns="0" tIns="0" rIns="0" bIns="0" rtlCol="0" anchor="ctr">
            <a:normAutofit/>
          </a:bodyPr>
          <a:lstStyle/>
          <a:p>
            <a:pPr algn="l" indent="0" marL="0">
              <a:buNone/>
            </a:pPr>
            <a:r>
              <a:rPr lang="en-US" sz="800" dirty="0">
                <a:solidFill>
                  <a:srgbClr val="AFC3D1"/>
                </a:solidFill>
                <a:latin typeface="Noto Sans CJK KR" pitchFamily="34" charset="0"/>
                <a:ea typeface="Noto Sans CJK KR" pitchFamily="34" charset="-122"/>
                <a:cs typeface="Noto Sans CJK KR" pitchFamily="34" charset="-120"/>
              </a:rPr>
              <a:t>DRAFTWISE AI  /  SKALA MINI-PROJECT</a:t>
            </a:r>
            <a:endParaRPr lang="en-US" sz="800" dirty="0"/>
          </a:p>
        </p:txBody>
      </p:sp>
      <p:sp>
        <p:nvSpPr>
          <p:cNvPr id="8" name="Text 6"/>
          <p:cNvSpPr/>
          <p:nvPr/>
        </p:nvSpPr>
        <p:spPr>
          <a:xfrm>
            <a:off x="10972800" y="6501384"/>
            <a:ext cx="585216" cy="201168"/>
          </a:xfrm>
          <a:prstGeom prst="rect">
            <a:avLst/>
          </a:prstGeom>
          <a:noFill/>
          <a:ln/>
        </p:spPr>
        <p:txBody>
          <a:bodyPr wrap="square" lIns="0" tIns="0" rIns="0" bIns="0" rtlCol="0" anchor="ctr">
            <a:normAutofit/>
          </a:bodyPr>
          <a:lstStyle/>
          <a:p>
            <a:pPr algn="r" indent="0" marL="0">
              <a:buNone/>
            </a:pPr>
            <a:r>
              <a:rPr lang="en-US" sz="900" dirty="0">
                <a:solidFill>
                  <a:srgbClr val="D9BA78"/>
                </a:solidFill>
                <a:latin typeface="Noto Sans CJK KR" pitchFamily="34" charset="0"/>
                <a:ea typeface="Noto Sans CJK KR" pitchFamily="34" charset="-122"/>
                <a:cs typeface="Noto Sans CJK KR" pitchFamily="34" charset="-120"/>
              </a:rPr>
              <a:t>06 / 08</a:t>
            </a:r>
            <a:endParaRPr lang="en-US" sz="900" dirty="0"/>
          </a:p>
        </p:txBody>
      </p:sp>
      <p:sp>
        <p:nvSpPr>
          <p:cNvPr id="9" name="Shape 7"/>
          <p:cNvSpPr/>
          <p:nvPr/>
        </p:nvSpPr>
        <p:spPr>
          <a:xfrm>
            <a:off x="640080" y="1883664"/>
            <a:ext cx="3602736" cy="1444752"/>
          </a:xfrm>
          <a:prstGeom prst="roundRect">
            <a:avLst>
              <a:gd name="adj" fmla="val 11392"/>
            </a:avLst>
          </a:prstGeom>
          <a:solidFill>
            <a:srgbClr val="122637"/>
          </a:solidFill>
          <a:ln w="12700">
            <a:solidFill>
              <a:srgbClr val="122637">
                <a:alpha val="0"/>
              </a:srgbClr>
            </a:solidFill>
            <a:prstDash val="solid"/>
          </a:ln>
        </p:spPr>
      </p:sp>
      <p:sp>
        <p:nvSpPr>
          <p:cNvPr id="10" name="Text 8"/>
          <p:cNvSpPr/>
          <p:nvPr/>
        </p:nvSpPr>
        <p:spPr>
          <a:xfrm>
            <a:off x="868680" y="2167128"/>
            <a:ext cx="3154680" cy="493776"/>
          </a:xfrm>
          <a:prstGeom prst="rect">
            <a:avLst/>
          </a:prstGeom>
          <a:noFill/>
          <a:ln/>
        </p:spPr>
        <p:txBody>
          <a:bodyPr wrap="square" lIns="0" tIns="0" rIns="0" bIns="0" rtlCol="0" anchor="ctr">
            <a:normAutofit/>
          </a:bodyPr>
          <a:lstStyle/>
          <a:p>
            <a:pPr algn="ctr" indent="0" marL="0">
              <a:buNone/>
            </a:pPr>
            <a:r>
              <a:rPr lang="en-US" sz="3600" b="1" dirty="0">
                <a:solidFill>
                  <a:srgbClr val="D9BA78"/>
                </a:solidFill>
                <a:latin typeface="Noto Sans CJK KR" pitchFamily="34" charset="0"/>
                <a:ea typeface="Noto Sans CJK KR" pitchFamily="34" charset="-122"/>
                <a:cs typeface="Noto Sans CJK KR" pitchFamily="34" charset="-120"/>
              </a:rPr>
              <a:t>43 / 43</a:t>
            </a:r>
            <a:endParaRPr lang="en-US" sz="3600" dirty="0"/>
          </a:p>
        </p:txBody>
      </p:sp>
      <p:sp>
        <p:nvSpPr>
          <p:cNvPr id="11" name="Text 9"/>
          <p:cNvSpPr/>
          <p:nvPr/>
        </p:nvSpPr>
        <p:spPr>
          <a:xfrm>
            <a:off x="868680" y="2761488"/>
            <a:ext cx="3154680" cy="292608"/>
          </a:xfrm>
          <a:prstGeom prst="rect">
            <a:avLst/>
          </a:prstGeom>
          <a:noFill/>
          <a:ln/>
        </p:spPr>
        <p:txBody>
          <a:bodyPr wrap="square" lIns="0" tIns="0" rIns="0" bIns="0" rtlCol="0" anchor="ctr">
            <a:normAutofit/>
          </a:bodyPr>
          <a:lstStyle/>
          <a:p>
            <a:pPr algn="ctr" indent="0" marL="0">
              <a:buNone/>
            </a:pPr>
            <a:r>
              <a:rPr lang="en-US" sz="1400" dirty="0">
                <a:solidFill>
                  <a:srgbClr val="AFC3D1"/>
                </a:solidFill>
                <a:latin typeface="Noto Sans CJK KR" pitchFamily="34" charset="0"/>
                <a:ea typeface="Noto Sans CJK KR" pitchFamily="34" charset="-122"/>
                <a:cs typeface="Noto Sans CJK KR" pitchFamily="34" charset="-120"/>
              </a:rPr>
              <a:t>Python 테스트</a:t>
            </a:r>
            <a:endParaRPr lang="en-US" sz="1400" dirty="0"/>
          </a:p>
        </p:txBody>
      </p:sp>
      <p:sp>
        <p:nvSpPr>
          <p:cNvPr id="12" name="Shape 10"/>
          <p:cNvSpPr/>
          <p:nvPr/>
        </p:nvSpPr>
        <p:spPr>
          <a:xfrm>
            <a:off x="4507992" y="1883664"/>
            <a:ext cx="3602736" cy="1444752"/>
          </a:xfrm>
          <a:prstGeom prst="roundRect">
            <a:avLst>
              <a:gd name="adj" fmla="val 11392"/>
            </a:avLst>
          </a:prstGeom>
          <a:solidFill>
            <a:srgbClr val="122637"/>
          </a:solidFill>
          <a:ln w="12700">
            <a:solidFill>
              <a:srgbClr val="122637">
                <a:alpha val="0"/>
              </a:srgbClr>
            </a:solidFill>
            <a:prstDash val="solid"/>
          </a:ln>
        </p:spPr>
      </p:sp>
      <p:sp>
        <p:nvSpPr>
          <p:cNvPr id="13" name="Text 11"/>
          <p:cNvSpPr/>
          <p:nvPr/>
        </p:nvSpPr>
        <p:spPr>
          <a:xfrm>
            <a:off x="4736592" y="2167128"/>
            <a:ext cx="3154680" cy="493776"/>
          </a:xfrm>
          <a:prstGeom prst="rect">
            <a:avLst/>
          </a:prstGeom>
          <a:noFill/>
          <a:ln/>
        </p:spPr>
        <p:txBody>
          <a:bodyPr wrap="square" lIns="0" tIns="0" rIns="0" bIns="0" rtlCol="0" anchor="ctr">
            <a:normAutofit/>
          </a:bodyPr>
          <a:lstStyle/>
          <a:p>
            <a:pPr algn="ctr" indent="0" marL="0">
              <a:buNone/>
            </a:pPr>
            <a:r>
              <a:rPr lang="en-US" sz="3600" b="1" dirty="0">
                <a:solidFill>
                  <a:srgbClr val="5FAEE9"/>
                </a:solidFill>
                <a:latin typeface="Noto Sans CJK KR" pitchFamily="34" charset="0"/>
                <a:ea typeface="Noto Sans CJK KR" pitchFamily="34" charset="-122"/>
                <a:cs typeface="Noto Sans CJK KR" pitchFamily="34" charset="-120"/>
              </a:rPr>
              <a:t>8 / 8</a:t>
            </a:r>
            <a:endParaRPr lang="en-US" sz="3600" dirty="0"/>
          </a:p>
        </p:txBody>
      </p:sp>
      <p:sp>
        <p:nvSpPr>
          <p:cNvPr id="14" name="Text 12"/>
          <p:cNvSpPr/>
          <p:nvPr/>
        </p:nvSpPr>
        <p:spPr>
          <a:xfrm>
            <a:off x="4736592" y="2761488"/>
            <a:ext cx="3154680" cy="292608"/>
          </a:xfrm>
          <a:prstGeom prst="rect">
            <a:avLst/>
          </a:prstGeom>
          <a:noFill/>
          <a:ln/>
        </p:spPr>
        <p:txBody>
          <a:bodyPr wrap="square" lIns="0" tIns="0" rIns="0" bIns="0" rtlCol="0" anchor="ctr">
            <a:normAutofit/>
          </a:bodyPr>
          <a:lstStyle/>
          <a:p>
            <a:pPr algn="ctr" indent="0" marL="0">
              <a:buNone/>
            </a:pPr>
            <a:r>
              <a:rPr lang="en-US" sz="1400" dirty="0">
                <a:solidFill>
                  <a:srgbClr val="AFC3D1"/>
                </a:solidFill>
                <a:latin typeface="Noto Sans CJK KR" pitchFamily="34" charset="0"/>
                <a:ea typeface="Noto Sans CJK KR" pitchFamily="34" charset="-122"/>
                <a:cs typeface="Noto Sans CJK KR" pitchFamily="34" charset="-120"/>
              </a:rPr>
              <a:t>Node UI 로직</a:t>
            </a:r>
            <a:endParaRPr lang="en-US" sz="1400" dirty="0"/>
          </a:p>
        </p:txBody>
      </p:sp>
      <p:sp>
        <p:nvSpPr>
          <p:cNvPr id="15" name="Shape 13"/>
          <p:cNvSpPr/>
          <p:nvPr/>
        </p:nvSpPr>
        <p:spPr>
          <a:xfrm>
            <a:off x="8375904" y="1883664"/>
            <a:ext cx="3602736" cy="1444752"/>
          </a:xfrm>
          <a:prstGeom prst="roundRect">
            <a:avLst>
              <a:gd name="adj" fmla="val 11392"/>
            </a:avLst>
          </a:prstGeom>
          <a:solidFill>
            <a:srgbClr val="122637"/>
          </a:solidFill>
          <a:ln w="12700">
            <a:solidFill>
              <a:srgbClr val="122637">
                <a:alpha val="0"/>
              </a:srgbClr>
            </a:solidFill>
            <a:prstDash val="solid"/>
          </a:ln>
        </p:spPr>
      </p:sp>
      <p:sp>
        <p:nvSpPr>
          <p:cNvPr id="16" name="Text 14"/>
          <p:cNvSpPr/>
          <p:nvPr/>
        </p:nvSpPr>
        <p:spPr>
          <a:xfrm>
            <a:off x="8604504" y="2167128"/>
            <a:ext cx="3154680" cy="493776"/>
          </a:xfrm>
          <a:prstGeom prst="rect">
            <a:avLst/>
          </a:prstGeom>
          <a:noFill/>
          <a:ln/>
        </p:spPr>
        <p:txBody>
          <a:bodyPr wrap="square" lIns="0" tIns="0" rIns="0" bIns="0" rtlCol="0" anchor="ctr">
            <a:normAutofit/>
          </a:bodyPr>
          <a:lstStyle/>
          <a:p>
            <a:pPr algn="ctr" indent="0" marL="0">
              <a:buNone/>
            </a:pPr>
            <a:r>
              <a:rPr lang="en-US" sz="3600" b="1" dirty="0">
                <a:solidFill>
                  <a:srgbClr val="77D9AD"/>
                </a:solidFill>
                <a:latin typeface="Noto Sans CJK KR" pitchFamily="34" charset="0"/>
                <a:ea typeface="Noto Sans CJK KR" pitchFamily="34" charset="-122"/>
                <a:cs typeface="Noto Sans CJK KR" pitchFamily="34" charset="-120"/>
              </a:rPr>
              <a:t>12 / 12</a:t>
            </a:r>
            <a:endParaRPr lang="en-US" sz="3600" dirty="0"/>
          </a:p>
        </p:txBody>
      </p:sp>
      <p:sp>
        <p:nvSpPr>
          <p:cNvPr id="17" name="Text 15"/>
          <p:cNvSpPr/>
          <p:nvPr/>
        </p:nvSpPr>
        <p:spPr>
          <a:xfrm>
            <a:off x="8604504" y="2761488"/>
            <a:ext cx="3154680" cy="292608"/>
          </a:xfrm>
          <a:prstGeom prst="rect">
            <a:avLst/>
          </a:prstGeom>
          <a:noFill/>
          <a:ln/>
        </p:spPr>
        <p:txBody>
          <a:bodyPr wrap="square" lIns="0" tIns="0" rIns="0" bIns="0" rtlCol="0" anchor="ctr">
            <a:normAutofit/>
          </a:bodyPr>
          <a:lstStyle/>
          <a:p>
            <a:pPr algn="ctr" indent="0" marL="0">
              <a:buNone/>
            </a:pPr>
            <a:r>
              <a:rPr lang="en-US" sz="1400" dirty="0">
                <a:solidFill>
                  <a:srgbClr val="AFC3D1"/>
                </a:solidFill>
                <a:latin typeface="Noto Sans CJK KR" pitchFamily="34" charset="0"/>
                <a:ea typeface="Noto Sans CJK KR" pitchFamily="34" charset="-122"/>
                <a:cs typeface="Noto Sans CJK KR" pitchFamily="34" charset="-120"/>
              </a:rPr>
              <a:t>Chrome 시나리오</a:t>
            </a:r>
            <a:endParaRPr lang="en-US" sz="1400" dirty="0"/>
          </a:p>
        </p:txBody>
      </p:sp>
      <p:sp>
        <p:nvSpPr>
          <p:cNvPr id="18" name="TextBox 17"/>
          <p:cNvSpPr txBox="1"/>
          <p:nvPr/>
        </p:nvSpPr>
        <p:spPr>
          <a:xfrm>
            <a:off x="667512" y="3529584"/>
            <a:ext cx="7589520" cy="292608"/>
          </a:xfrm>
          <a:prstGeom prst="rect">
            <a:avLst/>
          </a:prstGeom>
          <a:noFill/>
        </p:spPr>
        <p:txBody>
          <a:bodyPr wrap="square" lIns="0" rIns="0" tIns="0" bIns="0" anchor="ctr">
            <a:noAutofit/>
          </a:bodyPr>
          <a:lstStyle/>
          <a:p>
            <a:pPr>
              <a:spcBef>
                <a:spcPts val="0"/>
              </a:spcBef>
              <a:spcAft>
                <a:spcPts val="0"/>
              </a:spcAft>
            </a:pPr>
            <a:r>
              <a:rPr sz="1500" b="1">
                <a:solidFill>
                  <a:srgbClr val="D9BA78"/>
                </a:solidFill>
                <a:latin typeface="Noto Sans CJK KR"/>
              </a:rPr>
              <a:t>실제 통합: openai / langgraph / mcp_stdio</a:t>
            </a:r>
          </a:p>
        </p:txBody>
      </p:sp>
      <p:sp>
        <p:nvSpPr>
          <p:cNvPr id="19" name="TextBox 18"/>
          <p:cNvSpPr txBox="1"/>
          <p:nvPr/>
        </p:nvSpPr>
        <p:spPr>
          <a:xfrm>
            <a:off x="8229600" y="3538728"/>
            <a:ext cx="3310128" cy="274320"/>
          </a:xfrm>
          <a:prstGeom prst="rect">
            <a:avLst/>
          </a:prstGeom>
          <a:noFill/>
        </p:spPr>
        <p:txBody>
          <a:bodyPr wrap="square" lIns="0" rIns="0" tIns="0" bIns="0" anchor="ctr">
            <a:noAutofit/>
          </a:bodyPr>
          <a:lstStyle/>
          <a:p>
            <a:pPr>
              <a:spcBef>
                <a:spcPts val="0"/>
              </a:spcBef>
              <a:spcAft>
                <a:spcPts val="0"/>
              </a:spcAft>
            </a:pPr>
            <a:r>
              <a:rPr sz="1200" b="0">
                <a:solidFill>
                  <a:srgbClr val="F5F7FA"/>
                </a:solidFill>
                <a:latin typeface="Noto Sans CJK KR"/>
              </a:rPr>
              <a:t>HTTP 평균 1.44초 · API 4회</a:t>
            </a:r>
          </a:p>
        </p:txBody>
      </p:sp>
      <p:sp>
        <p:nvSpPr>
          <p:cNvPr id="20" name="TextBox 19"/>
          <p:cNvSpPr txBox="1"/>
          <p:nvPr/>
        </p:nvSpPr>
        <p:spPr>
          <a:xfrm>
            <a:off x="667512" y="4050791"/>
            <a:ext cx="10881360" cy="292608"/>
          </a:xfrm>
          <a:prstGeom prst="rect">
            <a:avLst/>
          </a:prstGeom>
          <a:noFill/>
        </p:spPr>
        <p:txBody>
          <a:bodyPr wrap="square" lIns="0" rIns="0" tIns="0" bIns="0" anchor="ctr">
            <a:noAutofit/>
          </a:bodyPr>
          <a:lstStyle/>
          <a:p>
            <a:pPr>
              <a:spcBef>
                <a:spcPts val="0"/>
              </a:spcBef>
              <a:spcAft>
                <a:spcPts val="0"/>
              </a:spcAft>
            </a:pPr>
            <a:r>
              <a:rPr sz="1500" b="1">
                <a:solidFill>
                  <a:srgbClr val="D9BA78"/>
                </a:solidFill>
                <a:latin typeface="Noto Sans CJK KR"/>
              </a:rPr>
              <a:t>분석 이력 복원 · 추가 AI 호출 없이 저장 결과 표시</a:t>
            </a:r>
          </a:p>
        </p:txBody>
      </p:sp>
      <p:pic>
        <p:nvPicPr>
          <p:cNvPr id="21" name="Picture 20" descr="실제 Chrome 실행 캡처: 06-history.png; 원본 비율 유지, 영역 확대"/>
          <p:cNvPicPr>
            <a:picLocks noChangeAspect="1"/>
          </p:cNvPicPr>
          <p:nvPr/>
        </p:nvPicPr>
        <p:blipFill>
          <a:blip r:embed="rId4"/>
          <a:srcRect b="66600"/>
          <a:stretch>
            <a:fillRect/>
          </a:stretch>
        </p:blipFill>
        <p:spPr>
          <a:xfrm>
            <a:off x="667512" y="4498848"/>
            <a:ext cx="10863072" cy="1345867"/>
          </a:xfrm>
          <a:prstGeom prst="rect">
            <a:avLst/>
          </a:prstGeom>
          <a:ln w="8890">
            <a:solidFill>
              <a:srgbClr val="3A4D59"/>
            </a:solidFill>
          </a:ln>
        </p:spPr>
      </p:pic>
      <p:sp>
        <p:nvSpPr>
          <p:cNvPr id="22" name="TextBox 21"/>
          <p:cNvSpPr txBox="1"/>
          <p:nvPr/>
        </p:nvSpPr>
        <p:spPr>
          <a:xfrm>
            <a:off x="667512" y="6007608"/>
            <a:ext cx="10863072" cy="237744"/>
          </a:xfrm>
          <a:prstGeom prst="rect">
            <a:avLst/>
          </a:prstGeom>
          <a:noFill/>
        </p:spPr>
        <p:txBody>
          <a:bodyPr wrap="square" lIns="0" rIns="0" tIns="0" bIns="0" anchor="ctr">
            <a:noAutofit/>
          </a:bodyPr>
          <a:lstStyle/>
          <a:p>
            <a:pPr>
              <a:spcBef>
                <a:spcPts val="0"/>
              </a:spcBef>
              <a:spcAft>
                <a:spcPts val="0"/>
              </a:spcAft>
            </a:pPr>
            <a:r>
              <a:rPr sz="1100" b="0">
                <a:solidFill>
                  <a:srgbClr val="AFC3D1"/>
                </a:solidFill>
                <a:latin typeface="Noto Sans CJK KR"/>
              </a:rPr>
              <a:t>최근 10개 기록 조회 · 픽·밴 슬롯과 설정 복원 · 캡처는 최근 기록 중 일부 확대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gd name="adj" fmla="val 189474"/>
            </a:avLst>
          </a:prstGeom>
          <a:solidFill>
            <a:srgbClr val="D9BA78"/>
          </a:solidFill>
          <a:ln w="12700">
            <a:solidFill>
              <a:srgbClr val="D9BA78">
                <a:alpha val="0"/>
              </a:srgbClr>
            </a:solidFill>
            <a:prstDash val="solid"/>
          </a:ln>
        </p:spPr>
      </p:sp>
      <p:sp>
        <p:nvSpPr>
          <p:cNvPr id="3" name="Shape 1"/>
          <p:cNvSpPr/>
          <p:nvPr/>
        </p:nvSpPr>
        <p:spPr>
          <a:xfrm>
            <a:off x="10378440" y="164592"/>
            <a:ext cx="1444752" cy="1444752"/>
          </a:xfrm>
          <a:prstGeom prst="ellipse">
            <a:avLst/>
          </a:prstGeom>
          <a:solidFill>
            <a:srgbClr val="0D1F2D"/>
          </a:solidFill>
          <a:ln w="12700">
            <a:solidFill>
              <a:srgbClr val="0D1F2D">
                <a:alpha val="0"/>
              </a:srgbClr>
            </a:solidFill>
            <a:prstDash val="solid"/>
          </a:ln>
        </p:spPr>
      </p:sp>
      <p:sp>
        <p:nvSpPr>
          <p:cNvPr id="4" name="Text 2"/>
          <p:cNvSpPr/>
          <p:nvPr/>
        </p:nvSpPr>
        <p:spPr>
          <a:xfrm>
            <a:off x="603504" y="347472"/>
            <a:ext cx="7315200" cy="274320"/>
          </a:xfrm>
          <a:prstGeom prst="rect">
            <a:avLst/>
          </a:prstGeom>
          <a:noFill/>
          <a:ln/>
        </p:spPr>
        <p:txBody>
          <a:bodyPr wrap="square" lIns="0" tIns="0" rIns="0" bIns="0" rtlCol="0" anchor="ctr">
            <a:normAutofit/>
          </a:bodyPr>
          <a:lstStyle/>
          <a:p>
            <a:pPr algn="l" indent="0" marL="0">
              <a:buNone/>
            </a:pPr>
            <a:r>
              <a:rPr lang="en-US" sz="1000" b="1" spc="180" kern="0" dirty="0">
                <a:solidFill>
                  <a:srgbClr val="D9BA78"/>
                </a:solidFill>
                <a:latin typeface="Noto Sans CJK KR" pitchFamily="34" charset="0"/>
                <a:ea typeface="Noto Sans CJK KR" pitchFamily="34" charset="-122"/>
                <a:cs typeface="Noto Sans CJK KR" pitchFamily="34" charset="-120"/>
              </a:rPr>
              <a:t>06 / EVALUATION &amp; LEARNINGS</a:t>
            </a:r>
            <a:endParaRPr lang="en-US" sz="1000" dirty="0"/>
          </a:p>
        </p:txBody>
      </p:sp>
      <p:sp>
        <p:nvSpPr>
          <p:cNvPr id="5" name="Text 3"/>
          <p:cNvSpPr/>
          <p:nvPr/>
        </p:nvSpPr>
        <p:spPr>
          <a:xfrm>
            <a:off x="603504" y="749808"/>
            <a:ext cx="10927080" cy="640080"/>
          </a:xfrm>
          <a:prstGeom prst="rect">
            <a:avLst/>
          </a:prstGeom>
          <a:noFill/>
          <a:ln/>
        </p:spPr>
        <p:txBody>
          <a:bodyPr wrap="square" lIns="0" tIns="0" rIns="0" bIns="0" rtlCol="0" anchor="ctr">
            <a:normAutofit/>
          </a:bodyPr>
          <a:lstStyle/>
          <a:p>
            <a:pPr algn="l" indent="0" marL="0">
              <a:buNone/>
            </a:pPr>
            <a:r>
              <a:rPr lang="en-US" sz="2800" b="1" dirty="0">
                <a:solidFill>
                  <a:srgbClr val="F5F7FA"/>
                </a:solidFill>
                <a:latin typeface="Noto Sans CJK KR" pitchFamily="34" charset="0"/>
                <a:ea typeface="Noto Sans CJK KR" pitchFamily="34" charset="-122"/>
                <a:cs typeface="Noto Sans CJK KR" pitchFamily="34" charset="-120"/>
              </a:rPr>
              <a:t>성능 비교, 발견한 오류, 해결한 방법</a:t>
            </a:r>
            <a:endParaRPr lang="en-US" sz="2800" dirty="0"/>
          </a:p>
        </p:txBody>
      </p:sp>
      <p:sp>
        <p:nvSpPr>
          <p:cNvPr id="6" name="Shape 4"/>
          <p:cNvSpPr/>
          <p:nvPr/>
        </p:nvSpPr>
        <p:spPr>
          <a:xfrm>
            <a:off x="603504" y="1499616"/>
            <a:ext cx="10991088" cy="0"/>
          </a:xfrm>
          <a:prstGeom prst="line">
            <a:avLst>
              <a:gd name="adj" fmla="val Infinity"/>
            </a:avLst>
          </a:prstGeom>
          <a:solidFill>
            <a:srgbClr val="2B4555"/>
          </a:solidFill>
          <a:ln w="10160">
            <a:solidFill>
              <a:srgbClr val="2B4555"/>
            </a:solidFill>
            <a:prstDash val="solid"/>
          </a:ln>
        </p:spPr>
      </p:sp>
      <p:sp>
        <p:nvSpPr>
          <p:cNvPr id="7" name="Text 5"/>
          <p:cNvSpPr/>
          <p:nvPr/>
        </p:nvSpPr>
        <p:spPr>
          <a:xfrm>
            <a:off x="612648" y="6519672"/>
            <a:ext cx="5486400" cy="173736"/>
          </a:xfrm>
          <a:prstGeom prst="rect">
            <a:avLst/>
          </a:prstGeom>
          <a:noFill/>
          <a:ln/>
        </p:spPr>
        <p:txBody>
          <a:bodyPr wrap="square" lIns="0" tIns="0" rIns="0" bIns="0" rtlCol="0" anchor="ctr">
            <a:normAutofit/>
          </a:bodyPr>
          <a:lstStyle/>
          <a:p>
            <a:pPr algn="l" indent="0" marL="0">
              <a:buNone/>
            </a:pPr>
            <a:r>
              <a:rPr lang="en-US" sz="800" dirty="0">
                <a:solidFill>
                  <a:srgbClr val="AFC3D1"/>
                </a:solidFill>
                <a:latin typeface="Noto Sans CJK KR" pitchFamily="34" charset="0"/>
                <a:ea typeface="Noto Sans CJK KR" pitchFamily="34" charset="-122"/>
                <a:cs typeface="Noto Sans CJK KR" pitchFamily="34" charset="-120"/>
              </a:rPr>
              <a:t>DRAFTWISE AI  /  SKALA MINI-PROJECT</a:t>
            </a:r>
            <a:endParaRPr lang="en-US" sz="800" dirty="0"/>
          </a:p>
        </p:txBody>
      </p:sp>
      <p:sp>
        <p:nvSpPr>
          <p:cNvPr id="8" name="Text 6"/>
          <p:cNvSpPr/>
          <p:nvPr/>
        </p:nvSpPr>
        <p:spPr>
          <a:xfrm>
            <a:off x="10972800" y="6501384"/>
            <a:ext cx="585216" cy="201168"/>
          </a:xfrm>
          <a:prstGeom prst="rect">
            <a:avLst/>
          </a:prstGeom>
          <a:noFill/>
          <a:ln/>
        </p:spPr>
        <p:txBody>
          <a:bodyPr wrap="square" lIns="0" tIns="0" rIns="0" bIns="0" rtlCol="0" anchor="ctr">
            <a:normAutofit/>
          </a:bodyPr>
          <a:lstStyle/>
          <a:p>
            <a:pPr algn="r" indent="0" marL="0">
              <a:buNone/>
            </a:pPr>
            <a:r>
              <a:rPr lang="en-US" sz="900" dirty="0">
                <a:solidFill>
                  <a:srgbClr val="D9BA78"/>
                </a:solidFill>
                <a:latin typeface="Noto Sans CJK KR" pitchFamily="34" charset="0"/>
                <a:ea typeface="Noto Sans CJK KR" pitchFamily="34" charset="-122"/>
                <a:cs typeface="Noto Sans CJK KR" pitchFamily="34" charset="-120"/>
              </a:rPr>
              <a:t>07 / 08</a:t>
            </a:r>
            <a:endParaRPr lang="en-US" sz="900" dirty="0"/>
          </a:p>
        </p:txBody>
      </p:sp>
      <p:sp>
        <p:nvSpPr>
          <p:cNvPr id="9" name="Shape 7"/>
          <p:cNvSpPr/>
          <p:nvPr/>
        </p:nvSpPr>
        <p:spPr>
          <a:xfrm>
            <a:off x="649224" y="1773936"/>
            <a:ext cx="5513832" cy="2350008"/>
          </a:xfrm>
          <a:prstGeom prst="roundRect">
            <a:avLst>
              <a:gd name="adj" fmla="val 7004"/>
            </a:avLst>
          </a:prstGeom>
          <a:solidFill>
            <a:srgbClr val="122637"/>
          </a:solidFill>
          <a:ln w="12700">
            <a:solidFill>
              <a:srgbClr val="122637">
                <a:alpha val="0"/>
              </a:srgbClr>
            </a:solidFill>
            <a:prstDash val="solid"/>
          </a:ln>
        </p:spPr>
      </p:sp>
      <p:sp>
        <p:nvSpPr>
          <p:cNvPr id="10" name="Text 8"/>
          <p:cNvSpPr/>
          <p:nvPr/>
        </p:nvSpPr>
        <p:spPr>
          <a:xfrm>
            <a:off x="850392" y="1929384"/>
            <a:ext cx="5111496" cy="347472"/>
          </a:xfrm>
          <a:prstGeom prst="rect">
            <a:avLst/>
          </a:prstGeom>
          <a:noFill/>
          <a:ln/>
        </p:spPr>
        <p:txBody>
          <a:bodyPr wrap="square" lIns="0" tIns="0" rIns="0" bIns="0" rtlCol="0" anchor="ctr">
            <a:normAutofit/>
          </a:bodyPr>
          <a:lstStyle/>
          <a:p>
            <a:pPr algn="l" indent="0" marL="0">
              <a:buNone/>
            </a:pPr>
            <a:r>
              <a:rPr lang="en-US" sz="1400" b="1" dirty="0">
                <a:solidFill>
                  <a:srgbClr val="D9BA78"/>
                </a:solidFill>
                <a:latin typeface="Noto Sans CJK KR" pitchFamily="34" charset="0"/>
                <a:ea typeface="Noto Sans CJK KR" pitchFamily="34" charset="-122"/>
                <a:cs typeface="Noto Sans CJK KR" pitchFamily="34" charset="-120"/>
              </a:rPr>
              <a:t>Before / After  ·  동일한 4개 입력</a:t>
            </a:r>
            <a:endParaRPr lang="en-US" sz="1400" dirty="0"/>
          </a:p>
        </p:txBody>
      </p:sp>
      <p:sp>
        <p:nvSpPr>
          <p:cNvPr id="11" name="Text 9"/>
          <p:cNvSpPr/>
          <p:nvPr/>
        </p:nvSpPr>
        <p:spPr>
          <a:xfrm>
            <a:off x="941832" y="2532888"/>
            <a:ext cx="1463040" cy="365760"/>
          </a:xfrm>
          <a:prstGeom prst="rect">
            <a:avLst/>
          </a:prstGeom>
          <a:noFill/>
          <a:ln/>
        </p:spPr>
        <p:txBody>
          <a:bodyPr wrap="square" lIns="0" tIns="0" rIns="0" bIns="0" rtlCol="0" anchor="ctr">
            <a:normAutofit/>
          </a:bodyPr>
          <a:lstStyle/>
          <a:p>
            <a:pPr algn="l" indent="0" marL="0">
              <a:buNone/>
            </a:pPr>
            <a:r>
              <a:rPr lang="en-US" sz="1500" dirty="0">
                <a:solidFill>
                  <a:srgbClr val="AFC3D1"/>
                </a:solidFill>
                <a:latin typeface="Noto Sans CJK KR" pitchFamily="34" charset="0"/>
                <a:ea typeface="Noto Sans CJK KR" pitchFamily="34" charset="-122"/>
                <a:cs typeface="Noto Sans CJK KR" pitchFamily="34" charset="-120"/>
              </a:rPr>
              <a:t>Baseline</a:t>
            </a:r>
            <a:endParaRPr lang="en-US" sz="1500" dirty="0"/>
          </a:p>
        </p:txBody>
      </p:sp>
      <p:sp>
        <p:nvSpPr>
          <p:cNvPr id="12" name="Shape 10"/>
          <p:cNvSpPr/>
          <p:nvPr/>
        </p:nvSpPr>
        <p:spPr>
          <a:xfrm>
            <a:off x="2523744" y="2624328"/>
            <a:ext cx="2395728" cy="155448"/>
          </a:xfrm>
          <a:prstGeom prst="roundRect">
            <a:avLst>
              <a:gd name="adj" fmla="val 105882"/>
            </a:avLst>
          </a:prstGeom>
          <a:solidFill>
            <a:srgbClr val="0D1F2D"/>
          </a:solidFill>
          <a:ln w="12700">
            <a:solidFill>
              <a:srgbClr val="0D1F2D">
                <a:alpha val="0"/>
              </a:srgbClr>
            </a:solidFill>
            <a:prstDash val="solid"/>
          </a:ln>
        </p:spPr>
      </p:sp>
      <p:sp>
        <p:nvSpPr>
          <p:cNvPr id="13" name="Shape 11"/>
          <p:cNvSpPr/>
          <p:nvPr/>
        </p:nvSpPr>
        <p:spPr>
          <a:xfrm>
            <a:off x="2523744" y="2624328"/>
            <a:ext cx="1796796" cy="155448"/>
          </a:xfrm>
          <a:prstGeom prst="roundRect">
            <a:avLst>
              <a:gd name="adj" fmla="val 105882"/>
            </a:avLst>
          </a:prstGeom>
          <a:solidFill>
            <a:srgbClr val="5FAEE9"/>
          </a:solidFill>
          <a:ln w="12700">
            <a:solidFill>
              <a:srgbClr val="5FAEE9">
                <a:alpha val="0"/>
              </a:srgbClr>
            </a:solidFill>
            <a:prstDash val="solid"/>
          </a:ln>
        </p:spPr>
      </p:sp>
      <p:sp>
        <p:nvSpPr>
          <p:cNvPr id="14" name="Text 12"/>
          <p:cNvSpPr/>
          <p:nvPr/>
        </p:nvSpPr>
        <p:spPr>
          <a:xfrm>
            <a:off x="5056632" y="2505456"/>
            <a:ext cx="768096" cy="356616"/>
          </a:xfrm>
          <a:prstGeom prst="rect">
            <a:avLst/>
          </a:prstGeom>
          <a:noFill/>
          <a:ln/>
        </p:spPr>
        <p:txBody>
          <a:bodyPr wrap="square" lIns="0" tIns="0" rIns="0" bIns="0" rtlCol="0" anchor="ctr">
            <a:normAutofit/>
          </a:bodyPr>
          <a:lstStyle/>
          <a:p>
            <a:pPr algn="r" indent="0" marL="0">
              <a:buNone/>
            </a:pPr>
            <a:r>
              <a:rPr lang="en-US" sz="1900" b="1" dirty="0">
                <a:solidFill>
                  <a:srgbClr val="5FAEE9"/>
                </a:solidFill>
                <a:latin typeface="Noto Sans CJK KR" pitchFamily="34" charset="0"/>
                <a:ea typeface="Noto Sans CJK KR" pitchFamily="34" charset="-122"/>
                <a:cs typeface="Noto Sans CJK KR" pitchFamily="34" charset="-120"/>
              </a:rPr>
              <a:t>3 / 4</a:t>
            </a:r>
            <a:endParaRPr lang="en-US" sz="1900" dirty="0"/>
          </a:p>
        </p:txBody>
      </p:sp>
      <p:sp>
        <p:nvSpPr>
          <p:cNvPr id="15" name="Text 13"/>
          <p:cNvSpPr/>
          <p:nvPr/>
        </p:nvSpPr>
        <p:spPr>
          <a:xfrm>
            <a:off x="941832" y="3154680"/>
            <a:ext cx="1463040" cy="365760"/>
          </a:xfrm>
          <a:prstGeom prst="rect">
            <a:avLst/>
          </a:prstGeom>
          <a:noFill/>
          <a:ln/>
        </p:spPr>
        <p:txBody>
          <a:bodyPr wrap="square" lIns="0" tIns="0" rIns="0" bIns="0" rtlCol="0" anchor="ctr">
            <a:normAutofit/>
          </a:bodyPr>
          <a:lstStyle/>
          <a:p>
            <a:pPr algn="l" indent="0" marL="0">
              <a:buNone/>
            </a:pPr>
            <a:r>
              <a:rPr lang="en-US" sz="1500" dirty="0">
                <a:solidFill>
                  <a:srgbClr val="AFC3D1"/>
                </a:solidFill>
                <a:latin typeface="Noto Sans CJK KR" pitchFamily="34" charset="0"/>
                <a:ea typeface="Noto Sans CJK KR" pitchFamily="34" charset="-122"/>
                <a:cs typeface="Noto Sans CJK KR" pitchFamily="34" charset="-120"/>
              </a:rPr>
              <a:t>DraftWise</a:t>
            </a:r>
            <a:endParaRPr lang="en-US" sz="1500" dirty="0"/>
          </a:p>
        </p:txBody>
      </p:sp>
      <p:sp>
        <p:nvSpPr>
          <p:cNvPr id="16" name="Shape 14"/>
          <p:cNvSpPr/>
          <p:nvPr/>
        </p:nvSpPr>
        <p:spPr>
          <a:xfrm>
            <a:off x="2523744" y="3255264"/>
            <a:ext cx="2395728" cy="155448"/>
          </a:xfrm>
          <a:prstGeom prst="roundRect">
            <a:avLst>
              <a:gd name="adj" fmla="val 105882"/>
            </a:avLst>
          </a:prstGeom>
          <a:solidFill>
            <a:srgbClr val="0D1F2D"/>
          </a:solidFill>
          <a:ln w="12700">
            <a:solidFill>
              <a:srgbClr val="0D1F2D">
                <a:alpha val="0"/>
              </a:srgbClr>
            </a:solidFill>
            <a:prstDash val="solid"/>
          </a:ln>
        </p:spPr>
      </p:sp>
      <p:sp>
        <p:nvSpPr>
          <p:cNvPr id="17" name="Shape 15"/>
          <p:cNvSpPr/>
          <p:nvPr/>
        </p:nvSpPr>
        <p:spPr>
          <a:xfrm>
            <a:off x="2523744" y="3255264"/>
            <a:ext cx="2395728" cy="155448"/>
          </a:xfrm>
          <a:prstGeom prst="roundRect">
            <a:avLst>
              <a:gd name="adj" fmla="val 105882"/>
            </a:avLst>
          </a:prstGeom>
          <a:solidFill>
            <a:srgbClr val="D9BA78"/>
          </a:solidFill>
          <a:ln w="12700">
            <a:solidFill>
              <a:srgbClr val="D9BA78">
                <a:alpha val="0"/>
              </a:srgbClr>
            </a:solidFill>
            <a:prstDash val="solid"/>
          </a:ln>
        </p:spPr>
      </p:sp>
      <p:sp>
        <p:nvSpPr>
          <p:cNvPr id="18" name="Text 16"/>
          <p:cNvSpPr/>
          <p:nvPr/>
        </p:nvSpPr>
        <p:spPr>
          <a:xfrm>
            <a:off x="5056632" y="3127248"/>
            <a:ext cx="768096" cy="356616"/>
          </a:xfrm>
          <a:prstGeom prst="rect">
            <a:avLst/>
          </a:prstGeom>
          <a:noFill/>
          <a:ln/>
        </p:spPr>
        <p:txBody>
          <a:bodyPr wrap="square" lIns="0" tIns="0" rIns="0" bIns="0" rtlCol="0" anchor="ctr">
            <a:normAutofit/>
          </a:bodyPr>
          <a:lstStyle/>
          <a:p>
            <a:pPr algn="r" indent="0" marL="0">
              <a:buNone/>
            </a:pPr>
            <a:r>
              <a:rPr lang="en-US" sz="1900" b="1" dirty="0">
                <a:solidFill>
                  <a:srgbClr val="D9BA78"/>
                </a:solidFill>
                <a:latin typeface="Noto Sans CJK KR" pitchFamily="34" charset="0"/>
                <a:ea typeface="Noto Sans CJK KR" pitchFamily="34" charset="-122"/>
                <a:cs typeface="Noto Sans CJK KR" pitchFamily="34" charset="-120"/>
              </a:rPr>
              <a:t>4 / 4</a:t>
            </a:r>
            <a:endParaRPr lang="en-US" sz="1900" dirty="0"/>
          </a:p>
        </p:txBody>
      </p:sp>
      <p:sp>
        <p:nvSpPr>
          <p:cNvPr id="19" name="Text 17"/>
          <p:cNvSpPr/>
          <p:nvPr/>
        </p:nvSpPr>
        <p:spPr>
          <a:xfrm>
            <a:off x="941832" y="3767328"/>
            <a:ext cx="4910328" cy="219456"/>
          </a:xfrm>
          <a:prstGeom prst="rect">
            <a:avLst/>
          </a:prstGeom>
          <a:noFill/>
          <a:ln/>
        </p:spPr>
        <p:txBody>
          <a:bodyPr wrap="square" lIns="0" tIns="0" rIns="0" bIns="0" rtlCol="0" anchor="ctr">
            <a:normAutofit/>
          </a:bodyPr>
          <a:lstStyle/>
          <a:p>
            <a:pPr algn="l" indent="0" marL="0">
              <a:buNone/>
            </a:pPr>
            <a:r>
              <a:rPr lang="en-US" sz="1000" dirty="0">
                <a:solidFill>
                  <a:srgbClr val="AFC3D1"/>
                </a:solidFill>
                <a:latin typeface="Noto Sans CJK KR" pitchFamily="34" charset="0"/>
                <a:ea typeface="Noto Sans CJK KR" pitchFamily="34" charset="-122"/>
                <a:cs typeface="Noto Sans CJK KR" pitchFamily="34" charset="-120"/>
              </a:rPr>
              <a:t>사전에 정한 조합 보완 조건의 통과 건수</a:t>
            </a:r>
            <a:endParaRPr lang="en-US" sz="1000" dirty="0"/>
          </a:p>
        </p:txBody>
      </p:sp>
      <p:sp>
        <p:nvSpPr>
          <p:cNvPr id="20" name="Shape 18"/>
          <p:cNvSpPr/>
          <p:nvPr/>
        </p:nvSpPr>
        <p:spPr>
          <a:xfrm>
            <a:off x="6345936" y="1773936"/>
            <a:ext cx="5193792" cy="2350008"/>
          </a:xfrm>
          <a:prstGeom prst="roundRect">
            <a:avLst>
              <a:gd name="adj" fmla="val 7004"/>
            </a:avLst>
          </a:prstGeom>
          <a:solidFill>
            <a:srgbClr val="122637"/>
          </a:solidFill>
          <a:ln w="12700">
            <a:solidFill>
              <a:srgbClr val="122637">
                <a:alpha val="0"/>
              </a:srgbClr>
            </a:solidFill>
            <a:prstDash val="solid"/>
          </a:ln>
        </p:spPr>
      </p:sp>
      <p:sp>
        <p:nvSpPr>
          <p:cNvPr id="21" name="Text 19"/>
          <p:cNvSpPr/>
          <p:nvPr/>
        </p:nvSpPr>
        <p:spPr>
          <a:xfrm>
            <a:off x="6547104" y="1929384"/>
            <a:ext cx="4791456" cy="347472"/>
          </a:xfrm>
          <a:prstGeom prst="rect">
            <a:avLst/>
          </a:prstGeom>
          <a:noFill/>
          <a:ln/>
        </p:spPr>
        <p:txBody>
          <a:bodyPr wrap="square" lIns="0" tIns="0" rIns="0" bIns="0" rtlCol="0" anchor="ctr">
            <a:normAutofit/>
          </a:bodyPr>
          <a:lstStyle/>
          <a:p>
            <a:pPr algn="l" indent="0" marL="0">
              <a:buNone/>
            </a:pPr>
            <a:r>
              <a:rPr lang="en-US" sz="1400" b="1" dirty="0">
                <a:solidFill>
                  <a:srgbClr val="D9BA78"/>
                </a:solidFill>
                <a:latin typeface="Noto Sans CJK KR" pitchFamily="34" charset="0"/>
                <a:ea typeface="Noto Sans CJK KR" pitchFamily="34" charset="-122"/>
                <a:cs typeface="Noto Sans CJK KR" pitchFamily="34" charset="-120"/>
              </a:rPr>
              <a:t>실제로 발견한 AI 설명 오류</a:t>
            </a:r>
            <a:endParaRPr lang="en-US" sz="1400" dirty="0"/>
          </a:p>
        </p:txBody>
      </p:sp>
      <p:sp>
        <p:nvSpPr>
          <p:cNvPr id="22" name="Text 20"/>
          <p:cNvSpPr/>
          <p:nvPr/>
        </p:nvSpPr>
        <p:spPr>
          <a:xfrm>
            <a:off x="6574536" y="2487168"/>
            <a:ext cx="841248" cy="329184"/>
          </a:xfrm>
          <a:prstGeom prst="rect">
            <a:avLst/>
          </a:prstGeom>
          <a:noFill/>
          <a:ln/>
        </p:spPr>
        <p:txBody>
          <a:bodyPr wrap="square" lIns="0" tIns="0" rIns="0" bIns="0" rtlCol="0" anchor="ctr">
            <a:normAutofit/>
          </a:bodyPr>
          <a:lstStyle/>
          <a:p>
            <a:pPr algn="l" indent="0" marL="0">
              <a:buNone/>
            </a:pPr>
            <a:r>
              <a:rPr lang="en-US" sz="1300" b="1" dirty="0">
                <a:solidFill>
                  <a:srgbClr val="EE8290"/>
                </a:solidFill>
                <a:latin typeface="Noto Sans CJK KR" pitchFamily="34" charset="0"/>
                <a:ea typeface="Noto Sans CJK KR" pitchFamily="34" charset="-122"/>
                <a:cs typeface="Noto Sans CJK KR" pitchFamily="34" charset="-120"/>
              </a:rPr>
              <a:t>문제</a:t>
            </a:r>
            <a:endParaRPr lang="en-US" sz="1300" dirty="0"/>
          </a:p>
        </p:txBody>
      </p:sp>
      <p:sp>
        <p:nvSpPr>
          <p:cNvPr id="23" name="Text 21"/>
          <p:cNvSpPr/>
          <p:nvPr/>
        </p:nvSpPr>
        <p:spPr>
          <a:xfrm>
            <a:off x="7406640" y="2487168"/>
            <a:ext cx="3712464" cy="411480"/>
          </a:xfrm>
          <a:prstGeom prst="rect">
            <a:avLst/>
          </a:prstGeom>
          <a:noFill/>
          <a:ln/>
        </p:spPr>
        <p:txBody>
          <a:bodyPr wrap="square" lIns="0" tIns="0" rIns="0" bIns="0" rtlCol="0" anchor="ctr">
            <a:normAutofit/>
          </a:bodyPr>
          <a:lstStyle/>
          <a:p>
            <a:pPr algn="l" indent="0" marL="0">
              <a:buNone/>
            </a:pPr>
            <a:r>
              <a:rPr lang="en-US" sz="1300" dirty="0">
                <a:solidFill>
                  <a:srgbClr val="F5F7FA"/>
                </a:solidFill>
                <a:latin typeface="Noto Sans CJK KR" pitchFamily="34" charset="0"/>
                <a:ea typeface="Noto Sans CJK KR" pitchFamily="34" charset="-122"/>
                <a:cs typeface="Noto Sans CJK KR" pitchFamily="34" charset="-120"/>
              </a:rPr>
              <a:t>밴하지 않은 챔피언을 밴했다고 서술</a:t>
            </a:r>
            <a:endParaRPr lang="en-US" sz="1300" dirty="0"/>
          </a:p>
        </p:txBody>
      </p:sp>
      <p:sp>
        <p:nvSpPr>
          <p:cNvPr id="24" name="Text 22"/>
          <p:cNvSpPr/>
          <p:nvPr/>
        </p:nvSpPr>
        <p:spPr>
          <a:xfrm>
            <a:off x="6574536" y="3044952"/>
            <a:ext cx="841248" cy="329184"/>
          </a:xfrm>
          <a:prstGeom prst="rect">
            <a:avLst/>
          </a:prstGeom>
          <a:noFill/>
          <a:ln/>
        </p:spPr>
        <p:txBody>
          <a:bodyPr wrap="square" lIns="0" tIns="0" rIns="0" bIns="0" rtlCol="0" anchor="ctr">
            <a:normAutofit/>
          </a:bodyPr>
          <a:lstStyle/>
          <a:p>
            <a:pPr algn="l" indent="0" marL="0">
              <a:buNone/>
            </a:pPr>
            <a:r>
              <a:rPr lang="en-US" sz="1300" b="1" dirty="0">
                <a:solidFill>
                  <a:srgbClr val="77D9AD"/>
                </a:solidFill>
                <a:latin typeface="Noto Sans CJK KR" pitchFamily="34" charset="0"/>
                <a:ea typeface="Noto Sans CJK KR" pitchFamily="34" charset="-122"/>
                <a:cs typeface="Noto Sans CJK KR" pitchFamily="34" charset="-120"/>
              </a:rPr>
              <a:t>수정</a:t>
            </a:r>
            <a:endParaRPr lang="en-US" sz="1300" dirty="0"/>
          </a:p>
        </p:txBody>
      </p:sp>
      <p:sp>
        <p:nvSpPr>
          <p:cNvPr id="25" name="Text 23"/>
          <p:cNvSpPr/>
          <p:nvPr/>
        </p:nvSpPr>
        <p:spPr>
          <a:xfrm>
            <a:off x="7406640" y="3017520"/>
            <a:ext cx="3730752" cy="448056"/>
          </a:xfrm>
          <a:prstGeom prst="rect">
            <a:avLst/>
          </a:prstGeom>
          <a:noFill/>
          <a:ln/>
        </p:spPr>
        <p:txBody>
          <a:bodyPr wrap="square" lIns="0" tIns="0" rIns="0" bIns="0" rtlCol="0" anchor="ctr">
            <a:normAutofit/>
          </a:bodyPr>
          <a:lstStyle/>
          <a:p>
            <a:pPr algn="l" indent="0" marL="0">
              <a:buNone/>
            </a:pPr>
            <a:r>
              <a:rPr lang="en-US" sz="1300" dirty="0">
                <a:solidFill>
                  <a:srgbClr val="F5F7FA"/>
                </a:solidFill>
                <a:latin typeface="Noto Sans CJK KR" pitchFamily="34" charset="0"/>
                <a:ea typeface="Noto Sans CJK KR" pitchFamily="34" charset="-122"/>
                <a:cs typeface="Noto Sans CJK KR" pitchFamily="34" charset="-120"/>
              </a:rPr>
              <a:t>Structured Outputs + 서버 근거 검증</a:t>
            </a:r>
            <a:endParaRPr lang="en-US" sz="1300" dirty="0"/>
          </a:p>
        </p:txBody>
      </p:sp>
      <p:sp>
        <p:nvSpPr>
          <p:cNvPr id="26" name="Text 24"/>
          <p:cNvSpPr/>
          <p:nvPr/>
        </p:nvSpPr>
        <p:spPr>
          <a:xfrm>
            <a:off x="6574536" y="3602736"/>
            <a:ext cx="841248" cy="329184"/>
          </a:xfrm>
          <a:prstGeom prst="rect">
            <a:avLst/>
          </a:prstGeom>
          <a:noFill/>
          <a:ln/>
        </p:spPr>
        <p:txBody>
          <a:bodyPr wrap="square" lIns="0" tIns="0" rIns="0" bIns="0" rtlCol="0" anchor="ctr">
            <a:normAutofit/>
          </a:bodyPr>
          <a:lstStyle/>
          <a:p>
            <a:pPr algn="l" indent="0" marL="0">
              <a:buNone/>
            </a:pPr>
            <a:r>
              <a:rPr lang="en-US" sz="1300" b="1" dirty="0">
                <a:solidFill>
                  <a:srgbClr val="D9BA78"/>
                </a:solidFill>
                <a:latin typeface="Noto Sans CJK KR" pitchFamily="34" charset="0"/>
                <a:ea typeface="Noto Sans CJK KR" pitchFamily="34" charset="-122"/>
                <a:cs typeface="Noto Sans CJK KR" pitchFamily="34" charset="-120"/>
              </a:rPr>
              <a:t>확인</a:t>
            </a:r>
            <a:endParaRPr lang="en-US" sz="1300" dirty="0"/>
          </a:p>
        </p:txBody>
      </p:sp>
      <p:sp>
        <p:nvSpPr>
          <p:cNvPr id="27" name="Text 25"/>
          <p:cNvSpPr/>
          <p:nvPr/>
        </p:nvSpPr>
        <p:spPr>
          <a:xfrm>
            <a:off x="7406640" y="3584448"/>
            <a:ext cx="3712464" cy="356616"/>
          </a:xfrm>
          <a:prstGeom prst="rect">
            <a:avLst/>
          </a:prstGeom>
          <a:noFill/>
          <a:ln/>
        </p:spPr>
        <p:txBody>
          <a:bodyPr wrap="square" lIns="0" tIns="0" rIns="0" bIns="0" rtlCol="0" anchor="ctr">
            <a:normAutofit/>
          </a:bodyPr>
          <a:lstStyle/>
          <a:p>
            <a:pPr algn="l" indent="0" marL="0">
              <a:buNone/>
            </a:pPr>
            <a:r>
              <a:rPr lang="en-US" sz="1300" dirty="0">
                <a:solidFill>
                  <a:srgbClr val="F5F7FA"/>
                </a:solidFill>
                <a:latin typeface="Noto Sans CJK KR" pitchFamily="34" charset="0"/>
                <a:ea typeface="Noto Sans CJK KR" pitchFamily="34" charset="-122"/>
                <a:cs typeface="Noto Sans CJK KR" pitchFamily="34" charset="-120"/>
              </a:rPr>
              <a:t>수정 후 실제 응답 5건 검증</a:t>
            </a:r>
            <a:endParaRPr lang="en-US" sz="1300" dirty="0"/>
          </a:p>
        </p:txBody>
      </p:sp>
      <p:sp>
        <p:nvSpPr>
          <p:cNvPr id="28" name="Shape 26"/>
          <p:cNvSpPr/>
          <p:nvPr/>
        </p:nvSpPr>
        <p:spPr>
          <a:xfrm>
            <a:off x="649224" y="4434840"/>
            <a:ext cx="10890504" cy="1280160"/>
          </a:xfrm>
          <a:prstGeom prst="roundRect">
            <a:avLst>
              <a:gd name="adj" fmla="val 12857"/>
            </a:avLst>
          </a:prstGeom>
          <a:solidFill>
            <a:srgbClr val="122637"/>
          </a:solidFill>
          <a:ln w="12700">
            <a:solidFill>
              <a:srgbClr val="122637">
                <a:alpha val="0"/>
              </a:srgbClr>
            </a:solidFill>
            <a:prstDash val="solid"/>
          </a:ln>
        </p:spPr>
      </p:sp>
      <p:sp>
        <p:nvSpPr>
          <p:cNvPr id="29" name="Text 27"/>
          <p:cNvSpPr/>
          <p:nvPr/>
        </p:nvSpPr>
        <p:spPr>
          <a:xfrm>
            <a:off x="850392" y="4590288"/>
            <a:ext cx="10488168" cy="347472"/>
          </a:xfrm>
          <a:prstGeom prst="rect">
            <a:avLst/>
          </a:prstGeom>
          <a:noFill/>
          <a:ln/>
        </p:spPr>
        <p:txBody>
          <a:bodyPr wrap="square" lIns="0" tIns="0" rIns="0" bIns="0" rtlCol="0" anchor="ctr">
            <a:normAutofit/>
          </a:bodyPr>
          <a:lstStyle/>
          <a:p>
            <a:pPr algn="l" indent="0" marL="0">
              <a:buNone/>
            </a:pPr>
            <a:r>
              <a:rPr lang="en-US" sz="1400" b="1" dirty="0">
                <a:solidFill>
                  <a:srgbClr val="D9BA78"/>
                </a:solidFill>
                <a:latin typeface="Noto Sans CJK KR" pitchFamily="34" charset="0"/>
                <a:ea typeface="Noto Sans CJK KR" pitchFamily="34" charset="-122"/>
                <a:cs typeface="Noto Sans CJK KR" pitchFamily="34" charset="-120"/>
              </a:rPr>
              <a:t>트레이드오프와 한계</a:t>
            </a:r>
            <a:endParaRPr lang="en-US" sz="1400" dirty="0"/>
          </a:p>
        </p:txBody>
      </p:sp>
      <p:sp>
        <p:nvSpPr>
          <p:cNvPr id="30" name="Text 28"/>
          <p:cNvSpPr/>
          <p:nvPr/>
        </p:nvSpPr>
        <p:spPr>
          <a:xfrm>
            <a:off x="941832" y="5001768"/>
            <a:ext cx="10049256" cy="365760"/>
          </a:xfrm>
          <a:prstGeom prst="rect">
            <a:avLst/>
          </a:prstGeom>
          <a:noFill/>
          <a:ln/>
        </p:spPr>
        <p:txBody>
          <a:bodyPr wrap="square" lIns="0" tIns="0" rIns="0" bIns="0" rtlCol="0" anchor="ctr">
            <a:normAutofit/>
          </a:bodyPr>
          <a:lstStyle/>
          <a:p>
            <a:pPr algn="l" indent="0" marL="0">
              <a:buNone/>
            </a:pPr>
            <a:r>
              <a:rPr lang="en-US" sz="1600" b="1" dirty="0">
                <a:solidFill>
                  <a:srgbClr val="F5F7FA"/>
                </a:solidFill>
                <a:latin typeface="Noto Sans CJK KR" pitchFamily="34" charset="0"/>
                <a:ea typeface="Noto Sans CJK KR" pitchFamily="34" charset="-122"/>
                <a:cs typeface="Noto Sans CJK KR" pitchFamily="34" charset="-120"/>
              </a:rPr>
              <a:t>✓ 근거·순위 일관성 강화       ↔       자유로운 전략 답변 축소</a:t>
            </a:r>
            <a:endParaRPr lang="en-US" sz="1600" dirty="0"/>
          </a:p>
        </p:txBody>
      </p:sp>
      <p:sp>
        <p:nvSpPr>
          <p:cNvPr id="31" name="Text 29"/>
          <p:cNvSpPr/>
          <p:nvPr/>
        </p:nvSpPr>
        <p:spPr>
          <a:xfrm>
            <a:off x="758952" y="6071616"/>
            <a:ext cx="10899648" cy="274320"/>
          </a:xfrm>
          <a:prstGeom prst="rect">
            <a:avLst/>
          </a:prstGeom>
          <a:noFill/>
          <a:ln/>
        </p:spPr>
        <p:txBody>
          <a:bodyPr wrap="square" lIns="0" tIns="0" rIns="0" bIns="0" rtlCol="0" anchor="ctr">
            <a:normAutofit/>
          </a:bodyPr>
          <a:lstStyle/>
          <a:p>
            <a:pPr algn="l" indent="0" marL="0">
              <a:buNone/>
            </a:pPr>
            <a:r>
              <a:rPr lang="en-US" sz="1100" dirty="0">
                <a:solidFill>
                  <a:srgbClr val="AFC3D1"/>
                </a:solidFill>
                <a:latin typeface="Noto Sans CJK KR" pitchFamily="34" charset="0"/>
                <a:ea typeface="Noto Sans CJK KR" pitchFamily="34" charset="-122"/>
                <a:cs typeface="Noto Sans CJK KR" pitchFamily="34" charset="-120"/>
              </a:rPr>
              <a:t>실시간 승률·전적·메타 통계는 없음  |  Baseline은 단순 기준선  |  실제 게임 승률 검증 아님</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gd name="adj" fmla="val 189474"/>
            </a:avLst>
          </a:prstGeom>
          <a:solidFill>
            <a:srgbClr val="D9BA78"/>
          </a:solidFill>
          <a:ln w="12700">
            <a:solidFill>
              <a:srgbClr val="D9BA78">
                <a:alpha val="0"/>
              </a:srgbClr>
            </a:solidFill>
            <a:prstDash val="solid"/>
          </a:ln>
        </p:spPr>
      </p:sp>
      <p:sp>
        <p:nvSpPr>
          <p:cNvPr id="3" name="Shape 1"/>
          <p:cNvSpPr/>
          <p:nvPr/>
        </p:nvSpPr>
        <p:spPr>
          <a:xfrm>
            <a:off x="10378440" y="164592"/>
            <a:ext cx="1444752" cy="1444752"/>
          </a:xfrm>
          <a:prstGeom prst="ellipse">
            <a:avLst/>
          </a:prstGeom>
          <a:solidFill>
            <a:srgbClr val="0D1F2D"/>
          </a:solidFill>
          <a:ln w="12700">
            <a:solidFill>
              <a:srgbClr val="0D1F2D">
                <a:alpha val="0"/>
              </a:srgbClr>
            </a:solidFill>
            <a:prstDash val="solid"/>
          </a:ln>
        </p:spPr>
      </p:sp>
      <p:sp>
        <p:nvSpPr>
          <p:cNvPr id="4" name="Text 2"/>
          <p:cNvSpPr/>
          <p:nvPr/>
        </p:nvSpPr>
        <p:spPr>
          <a:xfrm>
            <a:off x="603504" y="347472"/>
            <a:ext cx="7315200" cy="274320"/>
          </a:xfrm>
          <a:prstGeom prst="rect">
            <a:avLst/>
          </a:prstGeom>
          <a:noFill/>
          <a:ln/>
        </p:spPr>
        <p:txBody>
          <a:bodyPr wrap="square" lIns="0" tIns="0" rIns="0" bIns="0" rtlCol="0" anchor="ctr">
            <a:normAutofit/>
          </a:bodyPr>
          <a:lstStyle/>
          <a:p>
            <a:pPr algn="l" indent="0" marL="0">
              <a:buNone/>
            </a:pPr>
            <a:r>
              <a:rPr lang="en-US" sz="1000" b="1" spc="180" kern="0" dirty="0">
                <a:solidFill>
                  <a:srgbClr val="D9BA78"/>
                </a:solidFill>
                <a:latin typeface="Noto Sans CJK KR" pitchFamily="34" charset="0"/>
                <a:ea typeface="Noto Sans CJK KR" pitchFamily="34" charset="-122"/>
                <a:cs typeface="Noto Sans CJK KR" pitchFamily="34" charset="-120"/>
              </a:rPr>
              <a:t>APPENDIX / SUBMISSION</a:t>
            </a:r>
            <a:endParaRPr lang="en-US" sz="1000" dirty="0"/>
          </a:p>
        </p:txBody>
      </p:sp>
      <p:sp>
        <p:nvSpPr>
          <p:cNvPr id="5" name="Text 3"/>
          <p:cNvSpPr/>
          <p:nvPr/>
        </p:nvSpPr>
        <p:spPr>
          <a:xfrm>
            <a:off x="603504" y="749808"/>
            <a:ext cx="10927080" cy="640080"/>
          </a:xfrm>
          <a:prstGeom prst="rect">
            <a:avLst/>
          </a:prstGeom>
          <a:noFill/>
          <a:ln/>
        </p:spPr>
        <p:txBody>
          <a:bodyPr wrap="square" lIns="0" tIns="0" rIns="0" bIns="0" rtlCol="0" anchor="ctr">
            <a:normAutofit/>
          </a:bodyPr>
          <a:lstStyle/>
          <a:p>
            <a:pPr algn="l" indent="0" marL="0">
              <a:buNone/>
            </a:pPr>
            <a:r>
              <a:rPr lang="en-US" sz="2800" b="1" dirty="0">
                <a:solidFill>
                  <a:srgbClr val="F5F7FA"/>
                </a:solidFill>
                <a:latin typeface="Noto Sans CJK KR" pitchFamily="34" charset="0"/>
                <a:ea typeface="Noto Sans CJK KR" pitchFamily="34" charset="-122"/>
                <a:cs typeface="Noto Sans CJK KR" pitchFamily="34" charset="-120"/>
              </a:rPr>
              <a:t>최종 제출 파일과 확인 사항</a:t>
            </a:r>
            <a:endParaRPr lang="en-US" sz="2800" dirty="0"/>
          </a:p>
        </p:txBody>
      </p:sp>
      <p:sp>
        <p:nvSpPr>
          <p:cNvPr id="6" name="Shape 4"/>
          <p:cNvSpPr/>
          <p:nvPr/>
        </p:nvSpPr>
        <p:spPr>
          <a:xfrm>
            <a:off x="603504" y="1499616"/>
            <a:ext cx="10991088" cy="0"/>
          </a:xfrm>
          <a:prstGeom prst="line">
            <a:avLst>
              <a:gd name="adj" fmla="val Infinity"/>
            </a:avLst>
          </a:prstGeom>
          <a:solidFill>
            <a:srgbClr val="2B4555"/>
          </a:solidFill>
          <a:ln w="10160">
            <a:solidFill>
              <a:srgbClr val="2B4555"/>
            </a:solidFill>
            <a:prstDash val="solid"/>
          </a:ln>
        </p:spPr>
      </p:sp>
      <p:sp>
        <p:nvSpPr>
          <p:cNvPr id="7" name="Text 5"/>
          <p:cNvSpPr/>
          <p:nvPr/>
        </p:nvSpPr>
        <p:spPr>
          <a:xfrm>
            <a:off x="612648" y="6519672"/>
            <a:ext cx="5486400" cy="173736"/>
          </a:xfrm>
          <a:prstGeom prst="rect">
            <a:avLst/>
          </a:prstGeom>
          <a:noFill/>
          <a:ln/>
        </p:spPr>
        <p:txBody>
          <a:bodyPr wrap="square" lIns="0" tIns="0" rIns="0" bIns="0" rtlCol="0" anchor="ctr">
            <a:normAutofit/>
          </a:bodyPr>
          <a:lstStyle/>
          <a:p>
            <a:pPr algn="l" indent="0" marL="0">
              <a:buNone/>
            </a:pPr>
            <a:r>
              <a:rPr lang="en-US" sz="800" dirty="0">
                <a:solidFill>
                  <a:srgbClr val="AFC3D1"/>
                </a:solidFill>
                <a:latin typeface="Noto Sans CJK KR" pitchFamily="34" charset="0"/>
                <a:ea typeface="Noto Sans CJK KR" pitchFamily="34" charset="-122"/>
                <a:cs typeface="Noto Sans CJK KR" pitchFamily="34" charset="-120"/>
              </a:rPr>
              <a:t>DRAFTWISE AI  /  SKALA MINI-PROJECT</a:t>
            </a:r>
            <a:endParaRPr lang="en-US" sz="800" dirty="0"/>
          </a:p>
        </p:txBody>
      </p:sp>
      <p:sp>
        <p:nvSpPr>
          <p:cNvPr id="8" name="Text 6"/>
          <p:cNvSpPr/>
          <p:nvPr/>
        </p:nvSpPr>
        <p:spPr>
          <a:xfrm>
            <a:off x="10972800" y="6501384"/>
            <a:ext cx="585216" cy="201168"/>
          </a:xfrm>
          <a:prstGeom prst="rect">
            <a:avLst/>
          </a:prstGeom>
          <a:noFill/>
          <a:ln/>
        </p:spPr>
        <p:txBody>
          <a:bodyPr wrap="square" lIns="0" tIns="0" rIns="0" bIns="0" rtlCol="0" anchor="ctr">
            <a:normAutofit/>
          </a:bodyPr>
          <a:lstStyle/>
          <a:p>
            <a:pPr algn="r" indent="0" marL="0">
              <a:buNone/>
            </a:pPr>
            <a:r>
              <a:rPr lang="en-US" sz="900" dirty="0">
                <a:solidFill>
                  <a:srgbClr val="D9BA78"/>
                </a:solidFill>
                <a:latin typeface="Noto Sans CJK KR" pitchFamily="34" charset="0"/>
                <a:ea typeface="Noto Sans CJK KR" pitchFamily="34" charset="-122"/>
                <a:cs typeface="Noto Sans CJK KR" pitchFamily="34" charset="-120"/>
              </a:rPr>
              <a:t>08 / 08</a:t>
            </a:r>
            <a:endParaRPr lang="en-US" sz="900" dirty="0"/>
          </a:p>
        </p:txBody>
      </p:sp>
      <p:sp>
        <p:nvSpPr>
          <p:cNvPr id="9" name="Shape 7"/>
          <p:cNvSpPr/>
          <p:nvPr/>
        </p:nvSpPr>
        <p:spPr>
          <a:xfrm>
            <a:off x="658368" y="1801368"/>
            <a:ext cx="5340096" cy="1252728"/>
          </a:xfrm>
          <a:prstGeom prst="roundRect">
            <a:avLst>
              <a:gd name="adj" fmla="val 13139"/>
            </a:avLst>
          </a:prstGeom>
          <a:solidFill>
            <a:srgbClr val="122637"/>
          </a:solidFill>
          <a:ln w="12700">
            <a:solidFill>
              <a:srgbClr val="122637">
                <a:alpha val="0"/>
              </a:srgbClr>
            </a:solidFill>
            <a:prstDash val="solid"/>
          </a:ln>
        </p:spPr>
      </p:sp>
      <p:sp>
        <p:nvSpPr>
          <p:cNvPr id="10" name="Text 8"/>
          <p:cNvSpPr/>
          <p:nvPr/>
        </p:nvSpPr>
        <p:spPr>
          <a:xfrm>
            <a:off x="877824" y="1965960"/>
            <a:ext cx="4882896" cy="365760"/>
          </a:xfrm>
          <a:prstGeom prst="rect">
            <a:avLst/>
          </a:prstGeom>
          <a:noFill/>
          <a:ln/>
        </p:spPr>
        <p:txBody>
          <a:bodyPr wrap="square" lIns="0" tIns="0" rIns="0" bIns="0" rtlCol="0" anchor="ctr">
            <a:normAutofit/>
          </a:bodyPr>
          <a:lstStyle/>
          <a:p>
            <a:pPr algn="l" indent="0" marL="0">
              <a:buNone/>
            </a:pPr>
            <a:r>
              <a:rPr lang="en-US" sz="1600" b="1" dirty="0">
                <a:solidFill>
                  <a:srgbClr val="D9BA78"/>
                </a:solidFill>
                <a:latin typeface="Noto Sans CJK KR" pitchFamily="34" charset="0"/>
                <a:ea typeface="Noto Sans CJK KR" pitchFamily="34" charset="-122"/>
                <a:cs typeface="Noto Sans CJK KR" pitchFamily="34" charset="-120"/>
              </a:rPr>
              <a:t>① 공개 GitHub 저장소</a:t>
            </a:r>
            <a:endParaRPr lang="en-US" sz="1600" dirty="0"/>
          </a:p>
        </p:txBody>
      </p:sp>
      <p:sp>
        <p:nvSpPr>
          <p:cNvPr id="11" name="Text 9"/>
          <p:cNvSpPr/>
          <p:nvPr/>
        </p:nvSpPr>
        <p:spPr>
          <a:xfrm>
            <a:off x="877824" y="2423160"/>
            <a:ext cx="4882896" cy="310896"/>
          </a:xfrm>
          <a:prstGeom prst="rect">
            <a:avLst/>
          </a:prstGeom>
          <a:noFill/>
          <a:ln/>
        </p:spPr>
        <p:txBody>
          <a:bodyPr wrap="square" lIns="0" tIns="0" rIns="0" bIns="0" rtlCol="0" anchor="ctr">
            <a:normAutofit/>
          </a:bodyPr>
          <a:lstStyle/>
          <a:p>
            <a:pPr algn="l" indent="0" marL="0">
              <a:buNone/>
            </a:pPr>
            <a:r>
              <a:rPr lang="en-US" sz="1200" dirty="0">
                <a:solidFill>
                  <a:srgbClr val="AFC3D1"/>
                </a:solidFill>
                <a:latin typeface="Noto Sans CJK KR" pitchFamily="34" charset="0"/>
                <a:ea typeface="Noto Sans CJK KR" pitchFamily="34" charset="-122"/>
                <a:cs typeface="Noto Sans CJK KR" pitchFamily="34" charset="-120"/>
              </a:rPr>
              <a:t>소스코드 · 테스트 · 실행 기록</a:t>
            </a:r>
            <a:endParaRPr lang="en-US" sz="1200" dirty="0"/>
          </a:p>
        </p:txBody>
      </p:sp>
      <p:sp>
        <p:nvSpPr>
          <p:cNvPr id="12" name="Shape 10">
            <a:hlinkClick r:id="rId1" tooltip=""/>
          </p:cNvPr>
          <p:cNvSpPr/>
          <p:nvPr/>
        </p:nvSpPr>
        <p:spPr>
          <a:xfrm>
            <a:off x="658368" y="1801368"/>
            <a:ext cx="5340096" cy="1252728"/>
          </a:xfrm>
          <a:prstGeom prst="rect">
            <a:avLst/>
          </a:prstGeom>
          <a:solidFill>
            <a:srgbClr val="FFFFFF">
              <a:alpha val="0"/>
            </a:srgbClr>
          </a:solidFill>
          <a:ln w="12700">
            <a:solidFill>
              <a:srgbClr val="333333">
                <a:alpha val="0"/>
              </a:srgbClr>
            </a:solidFill>
            <a:prstDash val="solid"/>
          </a:ln>
        </p:spPr>
      </p:sp>
      <p:sp>
        <p:nvSpPr>
          <p:cNvPr id="13" name="Shape 11"/>
          <p:cNvSpPr/>
          <p:nvPr/>
        </p:nvSpPr>
        <p:spPr>
          <a:xfrm>
            <a:off x="6217920" y="1801368"/>
            <a:ext cx="5340096" cy="1252728"/>
          </a:xfrm>
          <a:prstGeom prst="roundRect">
            <a:avLst>
              <a:gd name="adj" fmla="val 13139"/>
            </a:avLst>
          </a:prstGeom>
          <a:solidFill>
            <a:srgbClr val="122637"/>
          </a:solidFill>
          <a:ln w="12700">
            <a:solidFill>
              <a:srgbClr val="122637">
                <a:alpha val="0"/>
              </a:srgbClr>
            </a:solidFill>
            <a:prstDash val="solid"/>
          </a:ln>
        </p:spPr>
      </p:sp>
      <p:sp>
        <p:nvSpPr>
          <p:cNvPr id="14" name="Text 12"/>
          <p:cNvSpPr/>
          <p:nvPr/>
        </p:nvSpPr>
        <p:spPr>
          <a:xfrm>
            <a:off x="6437376" y="1965960"/>
            <a:ext cx="4882896" cy="365760"/>
          </a:xfrm>
          <a:prstGeom prst="rect">
            <a:avLst/>
          </a:prstGeom>
          <a:noFill/>
          <a:ln/>
        </p:spPr>
        <p:txBody>
          <a:bodyPr wrap="square" lIns="0" tIns="0" rIns="0" bIns="0" rtlCol="0" anchor="ctr">
            <a:normAutofit/>
          </a:bodyPr>
          <a:lstStyle/>
          <a:p>
            <a:pPr algn="l" indent="0" marL="0">
              <a:buNone/>
            </a:pPr>
            <a:r>
              <a:rPr lang="en-US" sz="1600" b="1" dirty="0">
                <a:solidFill>
                  <a:srgbClr val="D9BA78"/>
                </a:solidFill>
                <a:latin typeface="Noto Sans CJK KR" pitchFamily="34" charset="0"/>
                <a:ea typeface="Noto Sans CJK KR" pitchFamily="34" charset="-122"/>
                <a:cs typeface="Noto Sans CJK KR" pitchFamily="34" charset="-120"/>
              </a:rPr>
              <a:t>② 최종 결과 보고서</a:t>
            </a:r>
            <a:endParaRPr lang="en-US" sz="1600" dirty="0"/>
          </a:p>
        </p:txBody>
      </p:sp>
      <p:sp>
        <p:nvSpPr>
          <p:cNvPr id="15" name="Text 13"/>
          <p:cNvSpPr/>
          <p:nvPr/>
        </p:nvSpPr>
        <p:spPr>
          <a:xfrm>
            <a:off x="6437376" y="2423160"/>
            <a:ext cx="4882896" cy="310896"/>
          </a:xfrm>
          <a:prstGeom prst="rect">
            <a:avLst/>
          </a:prstGeom>
          <a:noFill/>
          <a:ln/>
        </p:spPr>
        <p:txBody>
          <a:bodyPr wrap="square" lIns="0" tIns="0" rIns="0" bIns="0" rtlCol="0" anchor="ctr">
            <a:normAutofit/>
          </a:bodyPr>
          <a:lstStyle/>
          <a:p>
            <a:pPr algn="l" indent="0" marL="0">
              <a:buNone/>
            </a:pPr>
            <a:r>
              <a:rPr lang="en-US" sz="1200" dirty="0">
                <a:solidFill>
                  <a:srgbClr val="AFC3D1"/>
                </a:solidFill>
                <a:latin typeface="Noto Sans CJK KR" pitchFamily="34" charset="0"/>
                <a:ea typeface="Noto Sans CJK KR" pitchFamily="34" charset="-122"/>
                <a:cs typeface="Noto Sans CJK KR" pitchFamily="34" charset="-120"/>
              </a:rPr>
              <a:t>REPORT.md · 실제 캡처 포함</a:t>
            </a:r>
            <a:endParaRPr lang="en-US" sz="1200" dirty="0"/>
          </a:p>
        </p:txBody>
      </p:sp>
      <p:sp>
        <p:nvSpPr>
          <p:cNvPr id="16" name="Shape 14">
            <a:hlinkClick r:id="rId2" tooltip=""/>
          </p:cNvPr>
          <p:cNvSpPr/>
          <p:nvPr/>
        </p:nvSpPr>
        <p:spPr>
          <a:xfrm>
            <a:off x="6217920" y="1801368"/>
            <a:ext cx="5340096" cy="1252728"/>
          </a:xfrm>
          <a:prstGeom prst="rect">
            <a:avLst/>
          </a:prstGeom>
          <a:solidFill>
            <a:srgbClr val="FFFFFF">
              <a:alpha val="0"/>
            </a:srgbClr>
          </a:solidFill>
          <a:ln w="12700">
            <a:solidFill>
              <a:srgbClr val="333333">
                <a:alpha val="0"/>
              </a:srgbClr>
            </a:solidFill>
            <a:prstDash val="solid"/>
          </a:ln>
        </p:spPr>
      </p:sp>
      <p:sp>
        <p:nvSpPr>
          <p:cNvPr id="17" name="Shape 15"/>
          <p:cNvSpPr/>
          <p:nvPr/>
        </p:nvSpPr>
        <p:spPr>
          <a:xfrm>
            <a:off x="658368" y="3328416"/>
            <a:ext cx="5340096" cy="1252728"/>
          </a:xfrm>
          <a:prstGeom prst="roundRect">
            <a:avLst>
              <a:gd name="adj" fmla="val 13139"/>
            </a:avLst>
          </a:prstGeom>
          <a:solidFill>
            <a:srgbClr val="122637"/>
          </a:solidFill>
          <a:ln w="12700">
            <a:solidFill>
              <a:srgbClr val="122637">
                <a:alpha val="0"/>
              </a:srgbClr>
            </a:solidFill>
            <a:prstDash val="solid"/>
          </a:ln>
        </p:spPr>
      </p:sp>
      <p:sp>
        <p:nvSpPr>
          <p:cNvPr id="18" name="Text 16"/>
          <p:cNvSpPr/>
          <p:nvPr/>
        </p:nvSpPr>
        <p:spPr>
          <a:xfrm>
            <a:off x="877824" y="3493008"/>
            <a:ext cx="4882896" cy="365760"/>
          </a:xfrm>
          <a:prstGeom prst="rect">
            <a:avLst/>
          </a:prstGeom>
          <a:noFill/>
          <a:ln/>
        </p:spPr>
        <p:txBody>
          <a:bodyPr wrap="square" lIns="0" tIns="0" rIns="0" bIns="0" rtlCol="0" anchor="ctr">
            <a:normAutofit/>
          </a:bodyPr>
          <a:lstStyle/>
          <a:p>
            <a:pPr algn="l" indent="0" marL="0">
              <a:buNone/>
            </a:pPr>
            <a:r>
              <a:rPr lang="en-US" sz="1600" b="1" dirty="0">
                <a:solidFill>
                  <a:srgbClr val="F5F7FA"/>
                </a:solidFill>
                <a:latin typeface="Noto Sans CJK KR" pitchFamily="34" charset="0"/>
                <a:ea typeface="Noto Sans CJK KR" pitchFamily="34" charset="-122"/>
                <a:cs typeface="Noto Sans CJK KR" pitchFamily="34" charset="-120"/>
              </a:rPr>
              <a:t>③ 5분 발표자료</a:t>
            </a:r>
            <a:endParaRPr lang="en-US" sz="1600" dirty="0"/>
          </a:p>
        </p:txBody>
      </p:sp>
      <p:sp>
        <p:nvSpPr>
          <p:cNvPr id="19" name="Text 17"/>
          <p:cNvSpPr/>
          <p:nvPr/>
        </p:nvSpPr>
        <p:spPr>
          <a:xfrm>
            <a:off x="877824" y="3950208"/>
            <a:ext cx="4882896" cy="310896"/>
          </a:xfrm>
          <a:prstGeom prst="rect">
            <a:avLst/>
          </a:prstGeom>
          <a:noFill/>
          <a:ln/>
        </p:spPr>
        <p:txBody>
          <a:bodyPr wrap="square" lIns="0" tIns="0" rIns="0" bIns="0" rtlCol="0" anchor="ctr">
            <a:normAutofit/>
          </a:bodyPr>
          <a:lstStyle/>
          <a:p>
            <a:pPr algn="l" indent="0" marL="0">
              <a:buNone/>
            </a:pPr>
            <a:r>
              <a:rPr lang="en-US" sz="1200" dirty="0">
                <a:solidFill>
                  <a:srgbClr val="AFC3D1"/>
                </a:solidFill>
                <a:latin typeface="Noto Sans CJK KR" pitchFamily="34" charset="0"/>
                <a:ea typeface="Noto Sans CJK KR" pitchFamily="34" charset="-122"/>
                <a:cs typeface="Noto Sans CJK KR" pitchFamily="34" charset="-120"/>
              </a:rPr>
              <a:t>현재 PPT 파일 · 화면 공유용</a:t>
            </a:r>
            <a:endParaRPr lang="en-US" sz="1200" dirty="0"/>
          </a:p>
        </p:txBody>
      </p:sp>
      <p:sp>
        <p:nvSpPr>
          <p:cNvPr id="20" name="Shape 18"/>
          <p:cNvSpPr/>
          <p:nvPr/>
        </p:nvSpPr>
        <p:spPr>
          <a:xfrm>
            <a:off x="6217920" y="3328416"/>
            <a:ext cx="5340096" cy="1252728"/>
          </a:xfrm>
          <a:prstGeom prst="roundRect">
            <a:avLst>
              <a:gd name="adj" fmla="val 13139"/>
            </a:avLst>
          </a:prstGeom>
          <a:solidFill>
            <a:srgbClr val="122637"/>
          </a:solidFill>
          <a:ln w="12700">
            <a:solidFill>
              <a:srgbClr val="122637">
                <a:alpha val="0"/>
              </a:srgbClr>
            </a:solidFill>
            <a:prstDash val="solid"/>
          </a:ln>
        </p:spPr>
      </p:sp>
      <p:sp>
        <p:nvSpPr>
          <p:cNvPr id="21" name="Text 19"/>
          <p:cNvSpPr/>
          <p:nvPr/>
        </p:nvSpPr>
        <p:spPr>
          <a:xfrm>
            <a:off x="6437376" y="3493008"/>
            <a:ext cx="4882896" cy="365760"/>
          </a:xfrm>
          <a:prstGeom prst="rect">
            <a:avLst/>
          </a:prstGeom>
          <a:noFill/>
          <a:ln/>
        </p:spPr>
        <p:txBody>
          <a:bodyPr wrap="square" lIns="0" tIns="0" rIns="0" bIns="0" rtlCol="0" anchor="ctr">
            <a:normAutofit/>
          </a:bodyPr>
          <a:lstStyle/>
          <a:p>
            <a:pPr algn="l" indent="0" marL="0">
              <a:buNone/>
            </a:pPr>
            <a:r>
              <a:rPr lang="en-US" sz="1600" b="1" dirty="0">
                <a:solidFill>
                  <a:srgbClr val="F5F7FA"/>
                </a:solidFill>
                <a:latin typeface="Noto Sans CJK KR" pitchFamily="34" charset="0"/>
                <a:ea typeface="Noto Sans CJK KR" pitchFamily="34" charset="-122"/>
                <a:cs typeface="Noto Sans CJK KR" pitchFamily="34" charset="-120"/>
              </a:rPr>
              <a:t>④ 실행 증빙</a:t>
            </a:r>
            <a:endParaRPr lang="en-US" sz="1600" dirty="0"/>
          </a:p>
        </p:txBody>
      </p:sp>
      <p:sp>
        <p:nvSpPr>
          <p:cNvPr id="22" name="Text 20"/>
          <p:cNvSpPr/>
          <p:nvPr/>
        </p:nvSpPr>
        <p:spPr>
          <a:xfrm>
            <a:off x="6437376" y="3950208"/>
            <a:ext cx="4882896" cy="310896"/>
          </a:xfrm>
          <a:prstGeom prst="rect">
            <a:avLst/>
          </a:prstGeom>
          <a:noFill/>
          <a:ln/>
        </p:spPr>
        <p:txBody>
          <a:bodyPr wrap="square" lIns="0" tIns="0" rIns="0" bIns="0" rtlCol="0" anchor="ctr">
            <a:normAutofit/>
          </a:bodyPr>
          <a:lstStyle/>
          <a:p>
            <a:pPr algn="l" indent="0" marL="0">
              <a:buNone/>
            </a:pPr>
            <a:r>
              <a:rPr lang="en-US" sz="1200" dirty="0">
                <a:solidFill>
                  <a:srgbClr val="AFC3D1"/>
                </a:solidFill>
                <a:latin typeface="Noto Sans CJK KR" pitchFamily="34" charset="0"/>
                <a:ea typeface="Noto Sans CJK KR" pitchFamily="34" charset="-122"/>
                <a:cs typeface="Noto Sans CJK KR" pitchFamily="34" charset="-120"/>
              </a:rPr>
              <a:t>실제 OpenAI/MCP/LangGraph 기록</a:t>
            </a:r>
            <a:endParaRPr lang="en-US" sz="1200" dirty="0"/>
          </a:p>
        </p:txBody>
      </p:sp>
      <p:sp>
        <p:nvSpPr>
          <p:cNvPr id="23" name="Shape 21">
            <a:hlinkClick r:id="rId3" tooltip=""/>
          </p:cNvPr>
          <p:cNvSpPr/>
          <p:nvPr/>
        </p:nvSpPr>
        <p:spPr>
          <a:xfrm>
            <a:off x="6217920" y="3328416"/>
            <a:ext cx="5340096" cy="1252728"/>
          </a:xfrm>
          <a:prstGeom prst="rect">
            <a:avLst/>
          </a:prstGeom>
          <a:solidFill>
            <a:srgbClr val="FFFFFF">
              <a:alpha val="0"/>
            </a:srgbClr>
          </a:solidFill>
          <a:ln w="12700">
            <a:solidFill>
              <a:srgbClr val="333333">
                <a:alpha val="0"/>
              </a:srgbClr>
            </a:solidFill>
            <a:prstDash val="solid"/>
          </a:ln>
        </p:spPr>
      </p:sp>
      <p:sp>
        <p:nvSpPr>
          <p:cNvPr id="24" name="Shape 22"/>
          <p:cNvSpPr/>
          <p:nvPr/>
        </p:nvSpPr>
        <p:spPr>
          <a:xfrm>
            <a:off x="658368" y="5184648"/>
            <a:ext cx="10908792" cy="749808"/>
          </a:xfrm>
          <a:prstGeom prst="roundRect">
            <a:avLst>
              <a:gd name="adj" fmla="val 21951"/>
            </a:avLst>
          </a:prstGeom>
          <a:solidFill>
            <a:srgbClr val="193246"/>
          </a:solidFill>
          <a:ln w="12700">
            <a:solidFill>
              <a:srgbClr val="193246">
                <a:alpha val="0"/>
              </a:srgbClr>
            </a:solidFill>
            <a:prstDash val="solid"/>
          </a:ln>
        </p:spPr>
      </p:sp>
      <p:sp>
        <p:nvSpPr>
          <p:cNvPr id="25" name="Text 23"/>
          <p:cNvSpPr/>
          <p:nvPr/>
        </p:nvSpPr>
        <p:spPr>
          <a:xfrm>
            <a:off x="914400" y="5349240"/>
            <a:ext cx="1508760" cy="365760"/>
          </a:xfrm>
          <a:prstGeom prst="rect">
            <a:avLst/>
          </a:prstGeom>
          <a:noFill/>
          <a:ln/>
        </p:spPr>
        <p:txBody>
          <a:bodyPr wrap="square" lIns="0" tIns="0" rIns="0" bIns="0" rtlCol="0" anchor="ctr">
            <a:normAutofit/>
          </a:bodyPr>
          <a:lstStyle/>
          <a:p>
            <a:pPr algn="l" indent="0" marL="0">
              <a:buNone/>
            </a:pPr>
            <a:r>
              <a:rPr lang="en-US" sz="1500" b="1" dirty="0">
                <a:solidFill>
                  <a:srgbClr val="D9BA78"/>
                </a:solidFill>
                <a:latin typeface="Noto Sans CJK KR" pitchFamily="34" charset="0"/>
                <a:ea typeface="Noto Sans CJK KR" pitchFamily="34" charset="-122"/>
                <a:cs typeface="Noto Sans CJK KR" pitchFamily="34" charset="-120"/>
              </a:rPr>
              <a:t>남은 확인</a:t>
            </a:r>
            <a:endParaRPr lang="en-US" sz="1500" dirty="0"/>
          </a:p>
        </p:txBody>
      </p:sp>
      <p:sp>
        <p:nvSpPr>
          <p:cNvPr id="26" name="Text 24"/>
          <p:cNvSpPr/>
          <p:nvPr/>
        </p:nvSpPr>
        <p:spPr>
          <a:xfrm>
            <a:off x="2441448" y="5312664"/>
            <a:ext cx="8732520" cy="420624"/>
          </a:xfrm>
          <a:prstGeom prst="rect">
            <a:avLst/>
          </a:prstGeom>
          <a:noFill/>
          <a:ln/>
        </p:spPr>
        <p:txBody>
          <a:bodyPr wrap="square" lIns="0" tIns="0" rIns="0" bIns="0" rtlCol="0" anchor="ctr">
            <a:normAutofit/>
          </a:bodyPr>
          <a:lstStyle/>
          <a:p>
            <a:pPr algn="l" indent="0" marL="0">
              <a:buNone/>
            </a:pPr>
            <a:r>
              <a:rPr lang="en-US" sz="1300" dirty="0">
                <a:solidFill>
                  <a:srgbClr val="F5F7FA"/>
                </a:solidFill>
                <a:latin typeface="Noto Sans CJK KR" pitchFamily="34" charset="0"/>
                <a:ea typeface="Noto Sans CJK KR" pitchFamily="34" charset="-122"/>
                <a:cs typeface="Noto Sans CJK KR" pitchFamily="34" charset="-120"/>
              </a:rPr>
              <a:t>교육생 번호 입력 · 기존 ZIP 기반 조건 확인 · 발표 리허설 · 제출 포털 링크 등록</a:t>
            </a:r>
            <a:endParaRPr lang="en-US" sz="1300" dirty="0"/>
          </a:p>
        </p:txBody>
      </p:sp>
      <p:sp>
        <p:nvSpPr>
          <p:cNvPr id="27" name="Text 25"/>
          <p:cNvSpPr/>
          <p:nvPr/>
        </p:nvSpPr>
        <p:spPr>
          <a:xfrm>
            <a:off x="777240" y="6163056"/>
            <a:ext cx="10716768" cy="310896"/>
          </a:xfrm>
          <a:prstGeom prst="rect">
            <a:avLst/>
          </a:prstGeom>
          <a:noFill/>
          <a:ln/>
        </p:spPr>
        <p:txBody>
          <a:bodyPr wrap="square" lIns="0" tIns="0" rIns="0" bIns="0" rtlCol="0" anchor="ctr">
            <a:normAutofit/>
          </a:bodyPr>
          <a:lstStyle/>
          <a:p>
            <a:pPr algn="l" indent="0" marL="0">
              <a:buNone/>
            </a:pPr>
            <a:r>
              <a:rPr lang="en-US" sz="1100" dirty="0">
                <a:solidFill>
                  <a:srgbClr val="AFC3D1"/>
                </a:solidFill>
                <a:latin typeface="Noto Sans CJK KR" pitchFamily="34" charset="0"/>
                <a:ea typeface="Noto Sans CJK KR" pitchFamily="34" charset="-122"/>
                <a:cs typeface="Noto Sans CJK KR" pitchFamily="34" charset="-120"/>
              </a:rPr>
              <a:t>제출 13:00까지 / Zoom 점검 13:20–14:00 / 발표 14:00부터 (1인 5분)</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SKALA Mini-project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DraftWise AI — 5분 발표자료</dc:title>
  <dc:subject>DraftWise AI SKALA Mini-project presentation</dc:subject>
  <dc:creator>OpenAI</dc:creator>
  <cp:lastModifiedBy>OpenAI</cp:lastModifiedBy>
  <cp:revision>1</cp:revision>
  <dcterms:created xsi:type="dcterms:W3CDTF">2026-10-22T02:13:06Z</dcterms:created>
  <dcterms:modified xsi:type="dcterms:W3CDTF">2026-10-22T02:13:06Z</dcterms:modified>
</cp:coreProperties>
</file>